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47472"/>
          </a:xfrm>
          <a:prstGeom prst="rect">
            <a:avLst/>
          </a:prstGeom>
          <a:solidFill>
            <a:srgbClr val="13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91440"/>
            <a:ext cx="109728" cy="109728"/>
          </a:xfrm>
          <a:prstGeom prst="rect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" y="91440"/>
            <a:ext cx="109728" cy="109728"/>
          </a:xfrm>
          <a:prstGeom prst="rect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2064" y="91440"/>
            <a:ext cx="109728" cy="109728"/>
          </a:xfrm>
          <a:prstGeom prst="rect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0"/>
            <a:ext cx="1783080" cy="34747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0"/>
            <a:ext cx="1783080" cy="228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6576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Courier New"/>
              </a:rPr>
              <a:t>work_summary.py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822960"/>
            <a:ext cx="9994392" cy="4389120"/>
          </a:xfrm>
          <a:prstGeom prst="rect">
            <a:avLst/>
          </a:prstGeom>
          <a:solidFill>
            <a:srgbClr val="161B22"/>
          </a:solidFill>
          <a:ln w="6350">
            <a:solidFill>
              <a:srgbClr val="30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0" y="822960"/>
            <a:ext cx="9994392" cy="292608"/>
          </a:xfrm>
          <a:prstGeom prst="rect">
            <a:avLst/>
          </a:prstGeom>
          <a:solidFill>
            <a:srgbClr val="1C2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8321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Courier New"/>
              </a:rPr>
              <a:t>work_summary.py  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188720"/>
            <a:ext cx="9601200" cy="2730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ourier New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443445"/>
            <a:ext cx="9601200" cy="2730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8A6FF"/>
                </a:solidFill>
                <a:latin typeface="Courier New"/>
              </a:rPr>
              <a:t>class WorkSummary: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1698171"/>
            <a:ext cx="9601200" cy="2730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737D"/>
                </a:solidFill>
                <a:latin typeface="Courier New"/>
              </a:rPr>
              <a:t>    """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1952897"/>
            <a:ext cx="9601200" cy="2730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737D"/>
                </a:solidFill>
                <a:latin typeface="Courier New"/>
              </a:rPr>
              <a:t>    OSG myG Portal — Developer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207622"/>
            <a:ext cx="9601200" cy="2730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737D"/>
                </a:solidFill>
                <a:latin typeface="Courier New"/>
              </a:rPr>
              <a:t>    Period : April · May · June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462348"/>
            <a:ext cx="9601200" cy="2730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737D"/>
                </a:solidFill>
                <a:latin typeface="Courier New"/>
              </a:rPr>
              <a:t>    Author : Portal Dev Team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717074"/>
            <a:ext cx="9601200" cy="2730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737D"/>
                </a:solidFill>
                <a:latin typeface="Courier New"/>
              </a:rPr>
              <a:t>    """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2971800"/>
            <a:ext cx="9601200" cy="2730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3B341"/>
                </a:solidFill>
                <a:latin typeface="Courier New"/>
              </a:rPr>
              <a:t>    period = ["April", "May", "June"]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226525"/>
            <a:ext cx="9601200" cy="2730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3B341"/>
                </a:solidFill>
                <a:latin typeface="Courier New"/>
              </a:rPr>
              <a:t>    stack  = ["Python","Flask","PostgreSQL","JS"]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481251"/>
            <a:ext cx="9601200" cy="2730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FB950"/>
                </a:solidFill>
                <a:latin typeface="Courier New"/>
              </a:rPr>
              <a:t>    status = "production_deployed"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735977"/>
            <a:ext cx="9601200" cy="2730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3B341"/>
                </a:solidFill>
                <a:latin typeface="Courier New"/>
              </a:rPr>
              <a:t>    claims = 567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90702"/>
            <a:ext cx="9601200" cy="2730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ourier New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245428"/>
            <a:ext cx="9601200" cy="2730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8A6FF"/>
                </a:solidFill>
                <a:latin typeface="Courier New"/>
              </a:rPr>
              <a:t>    def run(self):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500154"/>
            <a:ext cx="9601200" cy="2730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ourier New"/>
              </a:rPr>
              <a:t>        return self.show_manager_summary()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5138928"/>
            <a:ext cx="109728" cy="20116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5394960"/>
            <a:ext cx="9994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FF41"/>
                </a:solidFill>
                <a:latin typeface="Courier New"/>
              </a:rPr>
              <a:t>&gt;_  Manager Review  ·  Q2 2026  ·  OSG Service Portal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  <a:latin typeface="Courier New"/>
              </a:rPr>
              <a:t>● work_summary.py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65471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6EDF3"/>
                </a:solidFill>
                <a:latin typeface="Courier New"/>
              </a:rPr>
              <a:t>Python 3.12  UTF-8  LF  Ln 14, Col 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47472"/>
          </a:xfrm>
          <a:prstGeom prst="rect">
            <a:avLst/>
          </a:prstGeom>
          <a:solidFill>
            <a:srgbClr val="13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91440"/>
            <a:ext cx="109728" cy="109728"/>
          </a:xfrm>
          <a:prstGeom prst="rect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" y="91440"/>
            <a:ext cx="109728" cy="109728"/>
          </a:xfrm>
          <a:prstGeom prst="rect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2064" y="91440"/>
            <a:ext cx="109728" cy="109728"/>
          </a:xfrm>
          <a:prstGeom prst="rect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0"/>
            <a:ext cx="1783080" cy="34747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0"/>
            <a:ext cx="1783080" cy="228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6576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Courier New"/>
              </a:rPr>
              <a:t>april_2026.py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0"/>
            <a:ext cx="1783080" cy="347472"/>
          </a:xfrm>
          <a:prstGeom prst="rect">
            <a:avLst/>
          </a:prstGeom>
          <a:solidFill>
            <a:srgbClr val="13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36576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737D"/>
                </a:solidFill>
                <a:latin typeface="Courier New"/>
              </a:rPr>
              <a:t>may_2026.py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0"/>
            <a:ext cx="1783080" cy="347472"/>
          </a:xfrm>
          <a:prstGeom prst="rect">
            <a:avLst/>
          </a:prstGeom>
          <a:solidFill>
            <a:srgbClr val="13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36576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737D"/>
                </a:solidFill>
                <a:latin typeface="Courier New"/>
              </a:rPr>
              <a:t>june_2026.py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" y="411480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" y="676656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" y="941832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" y="1207007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" y="1472184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" y="1737360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" y="2002536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" y="2267712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" y="2532888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" y="2798064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" y="3063240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" y="3328416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" y="3593591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" y="3858768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" y="4123944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4389120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" y="4654296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17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" y="4919472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" y="5184648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19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032" y="5449824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" y="5715000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21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6032" y="5980176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22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" y="411480"/>
            <a:ext cx="18288" cy="5833872"/>
          </a:xfrm>
          <a:prstGeom prst="rect">
            <a:avLst/>
          </a:prstGeom>
          <a:solidFill>
            <a:srgbClr val="1C2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411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737D"/>
                </a:solidFill>
                <a:latin typeface="Courier New"/>
              </a:rPr>
              <a:t># ═══════════════════════════════════════════════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7040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A737D"/>
                </a:solidFill>
                <a:latin typeface="Courier New"/>
              </a:rPr>
              <a:t># MODULE  : april_2026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8" y="99669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A737D"/>
                </a:solidFill>
                <a:latin typeface="Courier New"/>
              </a:rPr>
              <a:t># TASK    : Foundation &amp; Core Portal Build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128930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A737D"/>
                </a:solidFill>
                <a:latin typeface="Courier New"/>
              </a:rPr>
              <a:t># STATUS  : ✅  COMPLETED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" y="15819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737D"/>
                </a:solidFill>
                <a:latin typeface="Courier New"/>
              </a:rPr>
              <a:t># ═══════════════════════════════════════════════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" y="1901952"/>
            <a:ext cx="7315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  <a:latin typeface="Courier New"/>
              </a:rPr>
              <a:t>def april_deliverables():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" y="2212848"/>
            <a:ext cx="10058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FB950"/>
                </a:solidFill>
                <a:latin typeface="Courier New"/>
              </a:rPr>
              <a:t>    ✅  Set up Flask app — routing, sessions, admin dashboard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8" y="2651760"/>
            <a:ext cx="10058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FB950"/>
                </a:solidFill>
                <a:latin typeface="Courier New"/>
              </a:rPr>
              <a:t>    ✅  Designed PostgreSQL schema (replaced Google Sheets)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8" y="3090672"/>
            <a:ext cx="10058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FB950"/>
                </a:solidFill>
                <a:latin typeface="Courier New"/>
              </a:rPr>
              <a:t>    ✅  Built multi-product Claim Submission Form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8" y="3529584"/>
            <a:ext cx="10058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FB950"/>
                </a:solidFill>
                <a:latin typeface="Courier New"/>
              </a:rPr>
              <a:t>    ✅  Login / Logout with role-based access control (RBAC)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8" y="3968496"/>
            <a:ext cx="10058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FB950"/>
                </a:solidFill>
                <a:latin typeface="Courier New"/>
              </a:rPr>
              <a:t>    ✅  Gmail SMTP integration — email on every new claim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8" y="4407408"/>
            <a:ext cx="10058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3B341"/>
                </a:solidFill>
                <a:latin typeface="Courier New"/>
              </a:rPr>
              <a:t>    ✅  Migrated 500+ historical claims from Google Sheets → DB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8" y="4846320"/>
            <a:ext cx="10058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FB950"/>
                </a:solidFill>
                <a:latin typeface="Courier New"/>
              </a:rPr>
              <a:t>    ✅  Bidirectional Google Sheets sync (import legacy data)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9808" y="5285231"/>
            <a:ext cx="10058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2A8FF"/>
                </a:solidFill>
                <a:latin typeface="Courier New"/>
              </a:rPr>
              <a:t>    ✅  ClaimWrapper class — bridges Sheet headers ↔ DB columns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9808" y="5724144"/>
            <a:ext cx="10058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FB950"/>
                </a:solidFill>
                <a:latin typeface="Courier New"/>
              </a:rPr>
              <a:t>    ✅  Deployed to Render cloud with environment config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61120" y="1828800"/>
            <a:ext cx="2926080" cy="4114800"/>
          </a:xfrm>
          <a:prstGeom prst="rect">
            <a:avLst/>
          </a:prstGeom>
          <a:solidFill>
            <a:srgbClr val="161B22"/>
          </a:solidFill>
          <a:ln w="6350">
            <a:solidFill>
              <a:srgbClr val="30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961120" y="1828800"/>
            <a:ext cx="2926080" cy="256032"/>
          </a:xfrm>
          <a:prstGeom prst="rect">
            <a:avLst/>
          </a:prstGeom>
          <a:solidFill>
            <a:srgbClr val="1C2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52560" y="1847088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737D"/>
                </a:solidFill>
                <a:latin typeface="Courier New"/>
              </a:rPr>
              <a:t>april.stats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98280" y="2176272"/>
            <a:ext cx="2651760" cy="1051560"/>
          </a:xfrm>
          <a:prstGeom prst="rect">
            <a:avLst/>
          </a:prstGeom>
          <a:solidFill>
            <a:srgbClr val="21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98280" y="2221991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58A6FF"/>
                </a:solidFill>
                <a:latin typeface="Courier New"/>
              </a:rPr>
              <a:t>500+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98280" y="286207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A737D"/>
                </a:solidFill>
                <a:latin typeface="Courier New"/>
              </a:rPr>
              <a:t>claims_migrated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98280" y="3383280"/>
            <a:ext cx="2651760" cy="1051560"/>
          </a:xfrm>
          <a:prstGeom prst="rect">
            <a:avLst/>
          </a:prstGeom>
          <a:solidFill>
            <a:srgbClr val="21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098280" y="34290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3FB950"/>
                </a:solidFill>
                <a:latin typeface="Courier New"/>
              </a:rPr>
              <a:t>10+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98280" y="406908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A737D"/>
                </a:solidFill>
                <a:latin typeface="Courier New"/>
              </a:rPr>
              <a:t>routes_built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098280" y="4572000"/>
            <a:ext cx="2651760" cy="1051560"/>
          </a:xfrm>
          <a:prstGeom prst="rect">
            <a:avLst/>
          </a:prstGeom>
          <a:solidFill>
            <a:srgbClr val="21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098280" y="461772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3B341"/>
                </a:solidFill>
                <a:latin typeface="Courier New"/>
              </a:rPr>
              <a:t>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98280" y="525780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A737D"/>
                </a:solidFill>
                <a:latin typeface="Courier New"/>
              </a:rPr>
              <a:t>integrations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7432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  <a:latin typeface="Courier New"/>
              </a:rPr>
              <a:t>● april_2026.py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0" y="65471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6EDF3"/>
                </a:solidFill>
                <a:latin typeface="Courier New"/>
              </a:rPr>
              <a:t>9 tasks completed  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47472"/>
          </a:xfrm>
          <a:prstGeom prst="rect">
            <a:avLst/>
          </a:prstGeom>
          <a:solidFill>
            <a:srgbClr val="13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91440"/>
            <a:ext cx="109728" cy="109728"/>
          </a:xfrm>
          <a:prstGeom prst="rect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" y="91440"/>
            <a:ext cx="109728" cy="109728"/>
          </a:xfrm>
          <a:prstGeom prst="rect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2064" y="91440"/>
            <a:ext cx="109728" cy="109728"/>
          </a:xfrm>
          <a:prstGeom prst="rect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0"/>
            <a:ext cx="1783080" cy="347472"/>
          </a:xfrm>
          <a:prstGeom prst="rect">
            <a:avLst/>
          </a:prstGeom>
          <a:solidFill>
            <a:srgbClr val="13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6576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737D"/>
                </a:solidFill>
                <a:latin typeface="Courier New"/>
              </a:rPr>
              <a:t>april_2026.py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0"/>
            <a:ext cx="1783080" cy="34747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51760" y="0"/>
            <a:ext cx="1783080" cy="228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36576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Courier New"/>
              </a:rPr>
              <a:t>may_2026.py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0"/>
            <a:ext cx="1783080" cy="347472"/>
          </a:xfrm>
          <a:prstGeom prst="rect">
            <a:avLst/>
          </a:prstGeom>
          <a:solidFill>
            <a:srgbClr val="13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36576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737D"/>
                </a:solidFill>
                <a:latin typeface="Courier New"/>
              </a:rPr>
              <a:t>june_2026.py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" y="411480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" y="676656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" y="941832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" y="1207007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" y="1472184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" y="1737360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" y="2002536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" y="2267712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" y="2532888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" y="2798064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" y="3063240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" y="3328416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" y="3593591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" y="3858768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" y="4123944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4389120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" y="4654296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17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" y="4919472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" y="5184648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19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032" y="5449824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" y="5715000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21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6032" y="5980176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22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" y="411480"/>
            <a:ext cx="18288" cy="5833872"/>
          </a:xfrm>
          <a:prstGeom prst="rect">
            <a:avLst/>
          </a:prstGeom>
          <a:solidFill>
            <a:srgbClr val="1C2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411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737D"/>
                </a:solidFill>
                <a:latin typeface="Courier New"/>
              </a:rPr>
              <a:t># ═══════════════════════════════════════════════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7040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A737D"/>
                </a:solidFill>
                <a:latin typeface="Courier New"/>
              </a:rPr>
              <a:t># MODULE  : may_2026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8" y="99669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A737D"/>
                </a:solidFill>
                <a:latin typeface="Courier New"/>
              </a:rPr>
              <a:t># TASK    : Workflow, Analytics &amp; Stability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128930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A737D"/>
                </a:solidFill>
                <a:latin typeface="Courier New"/>
              </a:rPr>
              <a:t># STATUS  : ✅  COMPLETED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" y="15819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737D"/>
                </a:solidFill>
                <a:latin typeface="Courier New"/>
              </a:rPr>
              <a:t># ═══════════════════════════════════════════════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" y="1901952"/>
            <a:ext cx="7315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  <a:latin typeface="Courier New"/>
              </a:rPr>
              <a:t>def may_deliverables():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" y="2212848"/>
            <a:ext cx="10058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FB950"/>
                </a:solidFill>
                <a:latin typeface="Courier New"/>
              </a:rPr>
              <a:t>    ✅  7-step Replacement Workflow tracker built end-to-end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8" y="2651760"/>
            <a:ext cx="10058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FB950"/>
                </a:solidFill>
                <a:latin typeface="Courier New"/>
              </a:rPr>
              <a:t>    ✅  Analytics modal — per-claim workflow completion view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8" y="3090672"/>
            <a:ext cx="10058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FB950"/>
                </a:solidFill>
                <a:latin typeface="Courier New"/>
              </a:rPr>
              <a:t>    ✅  Replacement progress bar (step count / 7) in analytics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8" y="3529584"/>
            <a:ext cx="10058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3B341"/>
                </a:solidFill>
                <a:latin typeface="Courier New"/>
              </a:rPr>
              <a:t>    ✅  Auto-date stamping when workflow checkboxes are ticked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8" y="3968496"/>
            <a:ext cx="10058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FB950"/>
                </a:solidFill>
                <a:latin typeface="Courier New"/>
              </a:rPr>
              <a:t>    ✅  Dual-write logic — old &amp; new DB columns stay in sync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8" y="4407408"/>
            <a:ext cx="10058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78566"/>
                </a:solidFill>
                <a:latin typeface="Courier New"/>
              </a:rPr>
              <a:t>    ✅  Fixed: Google Sheets sync overwriting portal statuses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8" y="4846320"/>
            <a:ext cx="10058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2A8FF"/>
                </a:solidFill>
                <a:latin typeface="Courier New"/>
              </a:rPr>
              <a:t>    ✅  Status protection — 8 terminal statuses protected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9808" y="5285231"/>
            <a:ext cx="10058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3B341"/>
                </a:solidFill>
                <a:latin typeface="Courier New"/>
              </a:rPr>
              <a:t>    ✅  Backfilled 47 legacy claims with Settlement Mail status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9808" y="5724144"/>
            <a:ext cx="10058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FB950"/>
                </a:solidFill>
                <a:latin typeface="Courier New"/>
              </a:rPr>
              <a:t>    ✅  WhatsApp Spare Parts notification button per claim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61120" y="1828800"/>
            <a:ext cx="2926080" cy="4114800"/>
          </a:xfrm>
          <a:prstGeom prst="rect">
            <a:avLst/>
          </a:prstGeom>
          <a:solidFill>
            <a:srgbClr val="161B22"/>
          </a:solidFill>
          <a:ln w="6350">
            <a:solidFill>
              <a:srgbClr val="30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961120" y="1828800"/>
            <a:ext cx="2926080" cy="256032"/>
          </a:xfrm>
          <a:prstGeom prst="rect">
            <a:avLst/>
          </a:prstGeom>
          <a:solidFill>
            <a:srgbClr val="1C2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52560" y="1847088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737D"/>
                </a:solidFill>
                <a:latin typeface="Courier New"/>
              </a:rPr>
              <a:t>may.stats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98280" y="2176272"/>
            <a:ext cx="2651760" cy="1051560"/>
          </a:xfrm>
          <a:prstGeom prst="rect">
            <a:avLst/>
          </a:prstGeom>
          <a:solidFill>
            <a:srgbClr val="21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98280" y="2221991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58A6FF"/>
                </a:solidFill>
                <a:latin typeface="Courier New"/>
              </a:rPr>
              <a:t>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98280" y="286207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A737D"/>
                </a:solidFill>
                <a:latin typeface="Courier New"/>
              </a:rPr>
              <a:t>workflow_steps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98280" y="3383280"/>
            <a:ext cx="2651760" cy="1051560"/>
          </a:xfrm>
          <a:prstGeom prst="rect">
            <a:avLst/>
          </a:prstGeom>
          <a:solidFill>
            <a:srgbClr val="21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098280" y="34290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3FB950"/>
                </a:solidFill>
                <a:latin typeface="Courier New"/>
              </a:rPr>
              <a:t>47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98280" y="406908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A737D"/>
                </a:solidFill>
                <a:latin typeface="Courier New"/>
              </a:rPr>
              <a:t>claims_backfilled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098280" y="4572000"/>
            <a:ext cx="2651760" cy="1051560"/>
          </a:xfrm>
          <a:prstGeom prst="rect">
            <a:avLst/>
          </a:prstGeom>
          <a:solidFill>
            <a:srgbClr val="21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098280" y="461772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3B341"/>
                </a:solidFill>
                <a:latin typeface="Courier New"/>
              </a:rPr>
              <a:t>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98280" y="525780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A737D"/>
                </a:solidFill>
                <a:latin typeface="Courier New"/>
              </a:rPr>
              <a:t>statuses_protected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7432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  <a:latin typeface="Courier New"/>
              </a:rPr>
              <a:t>● may_2026.py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0" y="65471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6EDF3"/>
                </a:solidFill>
                <a:latin typeface="Courier New"/>
              </a:rPr>
              <a:t>9 tasks completed  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47472"/>
          </a:xfrm>
          <a:prstGeom prst="rect">
            <a:avLst/>
          </a:prstGeom>
          <a:solidFill>
            <a:srgbClr val="13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91440"/>
            <a:ext cx="109728" cy="109728"/>
          </a:xfrm>
          <a:prstGeom prst="rect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" y="91440"/>
            <a:ext cx="109728" cy="109728"/>
          </a:xfrm>
          <a:prstGeom prst="rect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2064" y="91440"/>
            <a:ext cx="109728" cy="109728"/>
          </a:xfrm>
          <a:prstGeom prst="rect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0"/>
            <a:ext cx="1783080" cy="347472"/>
          </a:xfrm>
          <a:prstGeom prst="rect">
            <a:avLst/>
          </a:prstGeom>
          <a:solidFill>
            <a:srgbClr val="13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6576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737D"/>
                </a:solidFill>
                <a:latin typeface="Courier New"/>
              </a:rPr>
              <a:t>april_2026.py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0"/>
            <a:ext cx="1783080" cy="347472"/>
          </a:xfrm>
          <a:prstGeom prst="rect">
            <a:avLst/>
          </a:prstGeom>
          <a:solidFill>
            <a:srgbClr val="13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36576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737D"/>
                </a:solidFill>
                <a:latin typeface="Courier New"/>
              </a:rPr>
              <a:t>may_2026.py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0"/>
            <a:ext cx="1783080" cy="34747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0"/>
            <a:ext cx="1783080" cy="228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36576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Courier New"/>
              </a:rPr>
              <a:t>june_2026.py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" y="411480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" y="676656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" y="941832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" y="1207007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" y="1472184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" y="1737360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" y="2002536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" y="2267712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" y="2532888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" y="2798064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" y="3063240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" y="3328416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" y="3593591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" y="3858768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" y="4123944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4389120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" y="4654296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17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" y="4919472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" y="5184648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19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032" y="5449824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" y="5715000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21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6032" y="5980176"/>
            <a:ext cx="320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37D"/>
                </a:solidFill>
                <a:latin typeface="Courier New"/>
              </a:rPr>
              <a:t>22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" y="411480"/>
            <a:ext cx="18288" cy="5833872"/>
          </a:xfrm>
          <a:prstGeom prst="rect">
            <a:avLst/>
          </a:prstGeom>
          <a:solidFill>
            <a:srgbClr val="1C2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411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737D"/>
                </a:solidFill>
                <a:latin typeface="Courier New"/>
              </a:rPr>
              <a:t># ═══════════════════════════════════════════════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7040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A737D"/>
                </a:solidFill>
                <a:latin typeface="Courier New"/>
              </a:rPr>
              <a:t># MODULE  : june_2026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8" y="99669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A737D"/>
                </a:solidFill>
                <a:latin typeface="Courier New"/>
              </a:rPr>
              <a:t># TASK    : Reliability, Data Integrity &amp; UX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128930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A737D"/>
                </a:solidFill>
                <a:latin typeface="Courier New"/>
              </a:rPr>
              <a:t># STATUS  : ✅  COMPLETED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" y="15819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737D"/>
                </a:solidFill>
                <a:latin typeface="Courier New"/>
              </a:rPr>
              <a:t># ═══════════════════════════════════════════════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" y="1901952"/>
            <a:ext cx="7315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  <a:latin typeface="Courier New"/>
              </a:rPr>
              <a:t>def june_deliverables():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" y="2212848"/>
            <a:ext cx="10058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78566"/>
                </a:solidFill>
                <a:latin typeface="Courier New"/>
              </a:rPr>
              <a:t>    ✅  Fixed silent DB save failures on claim submission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8" y="2651760"/>
            <a:ext cx="10058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FB950"/>
                </a:solidFill>
                <a:latin typeface="Courier New"/>
              </a:rPr>
              <a:t>    ✅  Local CSV backup — claims_backup.csv (failsafe store)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8" y="3090672"/>
            <a:ext cx="10058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3B341"/>
                </a:solidFill>
                <a:latin typeface="Courier New"/>
              </a:rPr>
              <a:t>    ✅  DB sync changed to synchronous (failures now visible)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8" y="3529584"/>
            <a:ext cx="10058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FB950"/>
                </a:solidFill>
                <a:latin typeface="Courier New"/>
              </a:rPr>
              <a:t>    ✅  Resolved status reversion: Replacement Approved → saved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8" y="3968496"/>
            <a:ext cx="10058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FB950"/>
                </a:solidFill>
                <a:latin typeface="Courier New"/>
              </a:rPr>
              <a:t>    ✅  Manually restored 6+ claims with incorrect status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8" y="4407408"/>
            <a:ext cx="10058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3B341"/>
                </a:solidFill>
                <a:latin typeface="Courier New"/>
              </a:rPr>
              <a:t>    ✅  Synced 69 legacy records — old ↔ new column names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8" y="4846320"/>
            <a:ext cx="10058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FB950"/>
                </a:solidFill>
                <a:latin typeface="Courier New"/>
              </a:rPr>
              <a:t>    ✅  Fixed Settlement Mail ✅ not showing in analytics modal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9808" y="5285231"/>
            <a:ext cx="10058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2A8FF"/>
                </a:solidFill>
                <a:latin typeface="Courier New"/>
              </a:rPr>
              <a:t>    ✅  Moved action buttons to top of Edit Claim modal (UX)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9808" y="5724144"/>
            <a:ext cx="10058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8A6FF"/>
                </a:solidFill>
                <a:latin typeface="Courier New"/>
              </a:rPr>
              <a:t>    ✅  Deployed all fixes to production via GitHub CI/CD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61120" y="1828800"/>
            <a:ext cx="2926080" cy="4114800"/>
          </a:xfrm>
          <a:prstGeom prst="rect">
            <a:avLst/>
          </a:prstGeom>
          <a:solidFill>
            <a:srgbClr val="161B22"/>
          </a:solidFill>
          <a:ln w="6350">
            <a:solidFill>
              <a:srgbClr val="30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961120" y="1828800"/>
            <a:ext cx="2926080" cy="256032"/>
          </a:xfrm>
          <a:prstGeom prst="rect">
            <a:avLst/>
          </a:prstGeom>
          <a:solidFill>
            <a:srgbClr val="1C2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52560" y="1847088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737D"/>
                </a:solidFill>
                <a:latin typeface="Courier New"/>
              </a:rPr>
              <a:t>june.stats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98280" y="2176272"/>
            <a:ext cx="2651760" cy="1051560"/>
          </a:xfrm>
          <a:prstGeom prst="rect">
            <a:avLst/>
          </a:prstGeom>
          <a:solidFill>
            <a:srgbClr val="21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98280" y="2221991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58A6FF"/>
                </a:solidFill>
                <a:latin typeface="Courier New"/>
              </a:rPr>
              <a:t>69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98280" y="286207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A737D"/>
                </a:solidFill>
                <a:latin typeface="Courier New"/>
              </a:rPr>
              <a:t>records_synced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98280" y="3383280"/>
            <a:ext cx="2651760" cy="1051560"/>
          </a:xfrm>
          <a:prstGeom prst="rect">
            <a:avLst/>
          </a:prstGeom>
          <a:solidFill>
            <a:srgbClr val="21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098280" y="34290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3FB950"/>
                </a:solidFill>
                <a:latin typeface="Courier New"/>
              </a:rPr>
              <a:t>6+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98280" y="406908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A737D"/>
                </a:solidFill>
                <a:latin typeface="Courier New"/>
              </a:rPr>
              <a:t>claims_restored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098280" y="4572000"/>
            <a:ext cx="2651760" cy="1051560"/>
          </a:xfrm>
          <a:prstGeom prst="rect">
            <a:avLst/>
          </a:prstGeom>
          <a:solidFill>
            <a:srgbClr val="21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098280" y="461772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3B341"/>
                </a:solidFill>
                <a:latin typeface="Courier New"/>
              </a:rPr>
              <a:t>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98280" y="525780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A737D"/>
                </a:solidFill>
                <a:latin typeface="Courier New"/>
              </a:rPr>
              <a:t>data_loss_events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7432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  <a:latin typeface="Courier New"/>
              </a:rPr>
              <a:t>● june_2026.py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0" y="65471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6EDF3"/>
                </a:solidFill>
                <a:latin typeface="Courier New"/>
              </a:rPr>
              <a:t>9 tasks completed  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47472"/>
          </a:xfrm>
          <a:prstGeom prst="rect">
            <a:avLst/>
          </a:prstGeom>
          <a:solidFill>
            <a:srgbClr val="13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91440"/>
            <a:ext cx="109728" cy="109728"/>
          </a:xfrm>
          <a:prstGeom prst="rect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" y="91440"/>
            <a:ext cx="109728" cy="109728"/>
          </a:xfrm>
          <a:prstGeom prst="rect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2064" y="91440"/>
            <a:ext cx="109728" cy="109728"/>
          </a:xfrm>
          <a:prstGeom prst="rect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0"/>
            <a:ext cx="1783080" cy="34747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0"/>
            <a:ext cx="1783080" cy="228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6576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Courier New"/>
              </a:rPr>
              <a:t>challenges.log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0233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6A737D"/>
                </a:solidFill>
                <a:latin typeface="Courier New"/>
              </a:rPr>
              <a:t>// Key Challenges &amp; Solutions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777240"/>
            <a:ext cx="11457432" cy="22860"/>
          </a:xfrm>
          <a:prstGeom prst="rect">
            <a:avLst/>
          </a:prstGeom>
          <a:solidFill>
            <a:srgbClr val="30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896112"/>
            <a:ext cx="11457432" cy="1325880"/>
          </a:xfrm>
          <a:prstGeom prst="rect">
            <a:avLst/>
          </a:prstGeom>
          <a:solidFill>
            <a:srgbClr val="161B22"/>
          </a:solidFill>
          <a:ln w="6350">
            <a:solidFill>
              <a:srgbClr val="30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896112"/>
            <a:ext cx="64008" cy="1325880"/>
          </a:xfrm>
          <a:prstGeom prst="rect">
            <a:avLst/>
          </a:prstGeom>
          <a:solidFill>
            <a:srgbClr val="F78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96926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8566"/>
                </a:solidFill>
                <a:latin typeface="Courier New"/>
              </a:rPr>
              <a:t>[BUG]  Status Reversion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12801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737D"/>
                </a:solidFill>
                <a:latin typeface="Courier New"/>
              </a:rPr>
              <a:t>  ›  Google Sheets sync overwrote portal statuses every cycle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969264"/>
            <a:ext cx="36576" cy="1143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969264"/>
            <a:ext cx="539496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FB950"/>
                </a:solidFill>
                <a:latin typeface="Courier New"/>
              </a:rPr>
              <a:t>[FIX]  Extended protection to 8 terminal statuses in pg_sync.py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313432"/>
            <a:ext cx="11457432" cy="1325880"/>
          </a:xfrm>
          <a:prstGeom prst="rect">
            <a:avLst/>
          </a:prstGeom>
          <a:solidFill>
            <a:srgbClr val="161B22"/>
          </a:solidFill>
          <a:ln w="6350">
            <a:solidFill>
              <a:srgbClr val="30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313432"/>
            <a:ext cx="64008" cy="1325880"/>
          </a:xfrm>
          <a:prstGeom prst="rect">
            <a:avLst/>
          </a:prstGeom>
          <a:solidFill>
            <a:srgbClr val="F78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38658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8566"/>
                </a:solidFill>
                <a:latin typeface="Courier New"/>
              </a:rPr>
              <a:t>[BUG]  Silent DB Failures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6974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737D"/>
                </a:solidFill>
                <a:latin typeface="Courier New"/>
              </a:rPr>
              <a:t>  ›  Background thread swallowed errors — email sent but DB write failed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2386584"/>
            <a:ext cx="36576" cy="1143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2386584"/>
            <a:ext cx="539496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FB950"/>
                </a:solidFill>
                <a:latin typeface="Courier New"/>
              </a:rPr>
              <a:t>[FIX]  Sync made synchronous + CSV backup before any save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730752"/>
            <a:ext cx="11457432" cy="1325880"/>
          </a:xfrm>
          <a:prstGeom prst="rect">
            <a:avLst/>
          </a:prstGeom>
          <a:solidFill>
            <a:srgbClr val="161B22"/>
          </a:solidFill>
          <a:ln w="6350">
            <a:solidFill>
              <a:srgbClr val="30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3730752"/>
            <a:ext cx="64008" cy="1325880"/>
          </a:xfrm>
          <a:prstGeom prst="rect">
            <a:avLst/>
          </a:prstGeom>
          <a:solidFill>
            <a:srgbClr val="F78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80390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8566"/>
                </a:solidFill>
                <a:latin typeface="Courier New"/>
              </a:rPr>
              <a:t>[BUG]  Legacy Column Mismatch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1148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737D"/>
                </a:solidFill>
                <a:latin typeface="Courier New"/>
              </a:rPr>
              <a:t>  ›  Old sheet used different column names — data read from wrong columns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9320" y="3803904"/>
            <a:ext cx="36576" cy="1143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200" y="3803904"/>
            <a:ext cx="539496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FB950"/>
                </a:solidFill>
                <a:latin typeface="Courier New"/>
              </a:rPr>
              <a:t>[FIX]  Dual-write on update + one-time backfill of 69 records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148072"/>
            <a:ext cx="11457432" cy="1325880"/>
          </a:xfrm>
          <a:prstGeom prst="rect">
            <a:avLst/>
          </a:prstGeom>
          <a:solidFill>
            <a:srgbClr val="161B22"/>
          </a:solidFill>
          <a:ln w="6350">
            <a:solidFill>
              <a:srgbClr val="30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5148072"/>
            <a:ext cx="64008" cy="1325880"/>
          </a:xfrm>
          <a:prstGeom prst="rect">
            <a:avLst/>
          </a:prstGeom>
          <a:solidFill>
            <a:srgbClr val="F78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22122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8566"/>
                </a:solidFill>
                <a:latin typeface="Courier New"/>
              </a:rPr>
              <a:t>[BUG]  Workflow Step Missing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5321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737D"/>
                </a:solidFill>
                <a:latin typeface="Courier New"/>
              </a:rPr>
              <a:t>  ›  Settlement Mail (step 7) not showing ✅ in analytics modal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89320" y="5221224"/>
            <a:ext cx="36576" cy="1143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5221224"/>
            <a:ext cx="539496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FB950"/>
                </a:solidFill>
                <a:latin typeface="Courier New"/>
              </a:rPr>
              <a:t>[FIX]  Fixed analytics.js + API to read from both column variants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  <a:latin typeface="Courier New"/>
              </a:rPr>
              <a:t>● challenges.log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65471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6EDF3"/>
                </a:solidFill>
                <a:latin typeface="Courier New"/>
              </a:rPr>
              <a:t>4 bugs resolved  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47472"/>
          </a:xfrm>
          <a:prstGeom prst="rect">
            <a:avLst/>
          </a:prstGeom>
          <a:solidFill>
            <a:srgbClr val="13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91440"/>
            <a:ext cx="109728" cy="109728"/>
          </a:xfrm>
          <a:prstGeom prst="rect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" y="91440"/>
            <a:ext cx="109728" cy="109728"/>
          </a:xfrm>
          <a:prstGeom prst="rect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2064" y="91440"/>
            <a:ext cx="109728" cy="109728"/>
          </a:xfrm>
          <a:prstGeom prst="rect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0"/>
            <a:ext cx="1783080" cy="34747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0"/>
            <a:ext cx="1783080" cy="228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6576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Courier New"/>
              </a:rPr>
              <a:t>git_log.sh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02336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F41"/>
                </a:solidFill>
                <a:latin typeface="Courier New"/>
              </a:rPr>
              <a:t>$ git log --oneline --author='Portal Dev' --since='2026-04-01' --until='2026-07-01'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749808"/>
            <a:ext cx="11457432" cy="22860"/>
          </a:xfrm>
          <a:prstGeom prst="rect">
            <a:avLst/>
          </a:prstGeom>
          <a:solidFill>
            <a:srgbClr val="30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841248"/>
            <a:ext cx="11457432" cy="393192"/>
          </a:xfrm>
          <a:prstGeom prst="rect">
            <a:avLst/>
          </a:prstGeom>
          <a:solidFill>
            <a:srgbClr val="1C2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8961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3B341"/>
                </a:solidFill>
                <a:latin typeface="Courier New"/>
              </a:rPr>
              <a:t>75441ef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896112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8A6FF"/>
                </a:solidFill>
                <a:latin typeface="Courier New"/>
              </a:rPr>
              <a:t>feat: add local CSV backup + synchronous DB save on submission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89611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737D"/>
                </a:solidFill>
                <a:latin typeface="Courier New"/>
              </a:rPr>
              <a:t>Jul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261872"/>
            <a:ext cx="11457432" cy="39319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31673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3B341"/>
                </a:solidFill>
                <a:latin typeface="Courier New"/>
              </a:rPr>
              <a:t>6777986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1316736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FB950"/>
                </a:solidFill>
                <a:latin typeface="Courier New"/>
              </a:rPr>
              <a:t>fix: extend status protection to all terminal statuses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131673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737D"/>
                </a:solidFill>
                <a:latin typeface="Courier New"/>
              </a:rPr>
              <a:t>Jul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1682496"/>
            <a:ext cx="11457432" cy="393192"/>
          </a:xfrm>
          <a:prstGeom prst="rect">
            <a:avLst/>
          </a:prstGeom>
          <a:solidFill>
            <a:srgbClr val="1C2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1737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3B341"/>
                </a:solidFill>
                <a:latin typeface="Courier New"/>
              </a:rPr>
              <a:t>24945da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1737360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2A8FF"/>
                </a:solidFill>
                <a:latin typeface="Courier New"/>
              </a:rPr>
              <a:t>ux:  move action buttons to top of Edit Claim modal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17373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737D"/>
                </a:solidFill>
                <a:latin typeface="Courier New"/>
              </a:rPr>
              <a:t>Jul 2026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103120"/>
            <a:ext cx="11457432" cy="39319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15798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3B341"/>
                </a:solidFill>
                <a:latin typeface="Courier New"/>
              </a:rPr>
              <a:t>f82d85e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2157984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FB950"/>
                </a:solidFill>
                <a:latin typeface="Courier New"/>
              </a:rPr>
              <a:t>fix: add Settlement Mail (step 7) to analytics workflow modal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215798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737D"/>
                </a:solidFill>
                <a:latin typeface="Courier New"/>
              </a:rPr>
              <a:t>Jun 2026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523744"/>
            <a:ext cx="11457432" cy="393192"/>
          </a:xfrm>
          <a:prstGeom prst="rect">
            <a:avLst/>
          </a:prstGeom>
          <a:solidFill>
            <a:srgbClr val="1C2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25786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3B341"/>
                </a:solidFill>
                <a:latin typeface="Courier New"/>
              </a:rPr>
              <a:t>02e457d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2578608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3B341"/>
                </a:solidFill>
                <a:latin typeface="Courier New"/>
              </a:rPr>
              <a:t>fix: correct DB column lookup for replacement analytics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257860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737D"/>
                </a:solidFill>
                <a:latin typeface="Courier New"/>
              </a:rPr>
              <a:t>Jun 2026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944368"/>
            <a:ext cx="11457432" cy="39319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299923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3B341"/>
                </a:solidFill>
                <a:latin typeface="Courier New"/>
              </a:rPr>
              <a:t>e9c3a12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2999232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8A6FF"/>
                </a:solidFill>
                <a:latin typeface="Courier New"/>
              </a:rPr>
              <a:t>feat: dual-write old &amp; new columns on every workflow update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299923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737D"/>
                </a:solidFill>
                <a:latin typeface="Courier New"/>
              </a:rPr>
              <a:t>May 2026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364992"/>
            <a:ext cx="11457432" cy="393192"/>
          </a:xfrm>
          <a:prstGeom prst="rect">
            <a:avLst/>
          </a:prstGeom>
          <a:solidFill>
            <a:srgbClr val="1C2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341985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3B341"/>
                </a:solidFill>
                <a:latin typeface="Courier New"/>
              </a:rPr>
              <a:t>b72d001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3419856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EA657"/>
                </a:solidFill>
                <a:latin typeface="Courier New"/>
              </a:rPr>
              <a:t>data: backfill 47 legacy claims with settlement mail status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341985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737D"/>
                </a:solidFill>
                <a:latin typeface="Courier New"/>
              </a:rPr>
              <a:t>May 2026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785616"/>
            <a:ext cx="11457432" cy="39319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3840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3B341"/>
                </a:solidFill>
                <a:latin typeface="Courier New"/>
              </a:rPr>
              <a:t>a81f320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63040" y="3840480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FB950"/>
                </a:solidFill>
                <a:latin typeface="Courier New"/>
              </a:rPr>
              <a:t>feat: 7-step replacement workflow tracker + auto-date stamping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38404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737D"/>
                </a:solidFill>
                <a:latin typeface="Courier New"/>
              </a:rPr>
              <a:t>May 2026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4206240"/>
            <a:ext cx="11457432" cy="393192"/>
          </a:xfrm>
          <a:prstGeom prst="rect">
            <a:avLst/>
          </a:prstGeom>
          <a:solidFill>
            <a:srgbClr val="1C2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426110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3B341"/>
                </a:solidFill>
                <a:latin typeface="Courier New"/>
              </a:rPr>
              <a:t>8c5d241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63040" y="4261104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8A6FF"/>
                </a:solidFill>
                <a:latin typeface="Courier New"/>
              </a:rPr>
              <a:t>feat: analytics dashboard + per-claim workflow modal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426110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737D"/>
                </a:solidFill>
                <a:latin typeface="Courier New"/>
              </a:rPr>
              <a:t>May 2026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4626864"/>
            <a:ext cx="11457432" cy="39319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46817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3B341"/>
                </a:solidFill>
                <a:latin typeface="Courier New"/>
              </a:rPr>
              <a:t>3e4c198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63040" y="4681728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2A8FF"/>
                </a:solidFill>
                <a:latin typeface="Courier New"/>
              </a:rPr>
              <a:t>feat: WhatsApp Spare Parts notification button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0" y="46817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737D"/>
                </a:solidFill>
                <a:latin typeface="Courier New"/>
              </a:rPr>
              <a:t>May 2026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5047488"/>
            <a:ext cx="11457432" cy="393192"/>
          </a:xfrm>
          <a:prstGeom prst="rect">
            <a:avLst/>
          </a:prstGeom>
          <a:solidFill>
            <a:srgbClr val="1C2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51023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3B341"/>
                </a:solidFill>
                <a:latin typeface="Courier New"/>
              </a:rPr>
              <a:t>1f2b887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463040" y="5102352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FB950"/>
                </a:solidFill>
                <a:latin typeface="Courier New"/>
              </a:rPr>
              <a:t>feat: Gmail SMTP email notification on claim submission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0" y="51023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737D"/>
                </a:solidFill>
                <a:latin typeface="Courier New"/>
              </a:rPr>
              <a:t>Apr 2026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5468112"/>
            <a:ext cx="11457432" cy="39319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552297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3B341"/>
                </a:solidFill>
                <a:latin typeface="Courier New"/>
              </a:rPr>
              <a:t>d92a456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463040" y="5522976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3B341"/>
                </a:solidFill>
                <a:latin typeface="Courier New"/>
              </a:rPr>
              <a:t>feat: PostgreSQL migration — 500+ claims from Google Sheets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552297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737D"/>
                </a:solidFill>
                <a:latin typeface="Courier New"/>
              </a:rPr>
              <a:t>Apr 2026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" y="5888736"/>
            <a:ext cx="11457432" cy="393192"/>
          </a:xfrm>
          <a:prstGeom prst="rect">
            <a:avLst/>
          </a:prstGeom>
          <a:solidFill>
            <a:srgbClr val="1C2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5943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3B341"/>
                </a:solidFill>
                <a:latin typeface="Courier New"/>
              </a:rPr>
              <a:t>c15e321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463040" y="5943600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8A6FF"/>
                </a:solidFill>
                <a:latin typeface="Courier New"/>
              </a:rPr>
              <a:t>feat: Flask portal — claim submission, dashboard, RBAC login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0" y="59436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737D"/>
                </a:solidFill>
                <a:latin typeface="Courier New"/>
              </a:rPr>
              <a:t>Apr 2026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7432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  <a:latin typeface="Courier New"/>
              </a:rPr>
              <a:t>● git_log.sh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0" y="65471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6EDF3"/>
                </a:solidFill>
                <a:latin typeface="Courier New"/>
              </a:rPr>
              <a:t>13 commits  ·  Apr–Jun 2026  ·  main branch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47472"/>
          </a:xfrm>
          <a:prstGeom prst="rect">
            <a:avLst/>
          </a:prstGeom>
          <a:solidFill>
            <a:srgbClr val="13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91440"/>
            <a:ext cx="109728" cy="109728"/>
          </a:xfrm>
          <a:prstGeom prst="rect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" y="91440"/>
            <a:ext cx="109728" cy="109728"/>
          </a:xfrm>
          <a:prstGeom prst="rect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2064" y="91440"/>
            <a:ext cx="109728" cy="109728"/>
          </a:xfrm>
          <a:prstGeom prst="rect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0"/>
            <a:ext cx="1783080" cy="34747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0"/>
            <a:ext cx="1783080" cy="228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6576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Courier New"/>
              </a:rPr>
              <a:t>exit.sh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731520"/>
            <a:ext cx="9445752" cy="5212080"/>
          </a:xfrm>
          <a:prstGeom prst="rect">
            <a:avLst/>
          </a:prstGeom>
          <a:solidFill>
            <a:srgbClr val="161B22"/>
          </a:solidFill>
          <a:ln w="6350">
            <a:solidFill>
              <a:srgbClr val="30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71600" y="731520"/>
            <a:ext cx="9445752" cy="292608"/>
          </a:xfrm>
          <a:prstGeom prst="rect">
            <a:avLst/>
          </a:prstGeom>
          <a:solidFill>
            <a:srgbClr val="1C2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8760" y="749808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737D"/>
                </a:solidFill>
                <a:latin typeface="Courier New"/>
              </a:rPr>
              <a:t>Terminal  ×   bash   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097280"/>
            <a:ext cx="9235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ourier New"/>
              </a:rPr>
              <a:t> 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1389888"/>
            <a:ext cx="9235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FF41"/>
                </a:solidFill>
                <a:latin typeface="Courier New"/>
              </a:rPr>
              <a:t>  $ python work_summary.py --quarter=Q2 --year=2026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1682495"/>
            <a:ext cx="9235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ourier New"/>
              </a:rPr>
              <a:t> 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1975104"/>
            <a:ext cx="9235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737D"/>
                </a:solidFill>
                <a:latin typeface="Courier New"/>
              </a:rPr>
              <a:t>  [INFO]  Loading April, May, June modules...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267712"/>
            <a:ext cx="9235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FB950"/>
                </a:solidFill>
                <a:latin typeface="Courier New"/>
              </a:rPr>
              <a:t>  [OK]    All 27 tasks completed successfully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560320"/>
            <a:ext cx="9235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FB950"/>
                </a:solidFill>
                <a:latin typeface="Courier New"/>
              </a:rPr>
              <a:t>  [OK]    567 claims in portal (production)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2852928"/>
            <a:ext cx="9235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FB950"/>
                </a:solidFill>
                <a:latin typeface="Courier New"/>
              </a:rPr>
              <a:t>  [OK]    7-step replacement workflow live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145536"/>
            <a:ext cx="9235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FB950"/>
                </a:solidFill>
                <a:latin typeface="Courier New"/>
              </a:rPr>
              <a:t>  [OK]    Zero data loss incidents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438144"/>
            <a:ext cx="9235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FB950"/>
                </a:solidFill>
                <a:latin typeface="Courier New"/>
              </a:rPr>
              <a:t>  [OK]    All bugs resolved &amp; deployed to Render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730752"/>
            <a:ext cx="9235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ourier New"/>
              </a:rPr>
              <a:t> 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023360"/>
            <a:ext cx="9235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8A6FF"/>
                </a:solidFill>
                <a:latin typeface="Courier New"/>
              </a:rPr>
              <a:t>  [OUTPUT]  Thank You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315968"/>
            <a:ext cx="9235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ourier New"/>
              </a:rPr>
              <a:t>           Questions &amp; Discussion Welcome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608576"/>
            <a:ext cx="9235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ourier New"/>
              </a:rPr>
              <a:t> 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901184"/>
            <a:ext cx="9235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FF41"/>
                </a:solidFill>
                <a:latin typeface="Courier New"/>
              </a:rPr>
              <a:t>  $ _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29968" y="5065776"/>
            <a:ext cx="100584" cy="18288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  <a:latin typeface="Courier New"/>
              </a:rPr>
              <a:t>● exit.sh  ·  Process exited with code 0  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65471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6EDF3"/>
                </a:solidFill>
                <a:latin typeface="Courier New"/>
              </a:rPr>
              <a:t>OSG myG Portal  ·  Q2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