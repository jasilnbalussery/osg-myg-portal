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0" y="0"/>
            <a:ext cx="12191695" cy="6858000"/>
          </a:xfrm>
          <a:prstGeom prst="rtTriangl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10800000">
            <a:off x="0" y="0"/>
            <a:ext cx="11887200" cy="6583680"/>
          </a:xfrm>
          <a:prstGeom prst="rtTriangl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QUARTERLY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0" b="1">
                <a:solidFill>
                  <a:srgbClr val="0F172A"/>
                </a:solidFill>
                <a:latin typeface="Segoe UI"/>
              </a:defRPr>
            </a:pPr>
            <a:r>
              <a:t>Q2 2026 WORK</a:t>
            </a:r>
            <a:br/>
            <a:r>
              <a:t>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840480"/>
            <a:ext cx="1828800" cy="73152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"/>
              </a:defRPr>
            </a:pPr>
            <a:r>
              <a:t>Jasil N Balussery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Segoe UI"/>
              </a:defRPr>
            </a:pPr>
            <a:r>
              <a:t>Technology / Software Development | myG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914400" cy="4572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BEAFE"/>
                </a:solidFill>
                <a:latin typeface="Segoe UI"/>
              </a:defRPr>
            </a:pPr>
            <a:r>
              <a:t>During Q2 2026, extensive full-stack development, database engineering, AI/ML integration, and multiple greenfield product launches were delivered across 8 distinct projects. Work spanned Python (Flask/Django), PostgreSQL, JavaScript, Machine Learning, LLM integration, Google APIs, and cloud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32918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2834639"/>
            <a:ext cx="914400" cy="914400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83463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3832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Projects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560320"/>
            <a:ext cx="32918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06240" y="2834639"/>
            <a:ext cx="914400" cy="914400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29718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83463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"/>
              </a:defRPr>
            </a:pPr>
            <a:r>
              <a:t>80+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3832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Dev Sessions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560320"/>
            <a:ext cx="32918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863840" y="2834639"/>
            <a:ext cx="914400" cy="914400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29718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83463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"/>
              </a:defRPr>
            </a:pPr>
            <a:r>
              <a:t>12.6M+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3832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DB Rows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89120"/>
            <a:ext cx="32918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48640" y="4663440"/>
            <a:ext cx="914400" cy="914400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8006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663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Mat Views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4389120"/>
            <a:ext cx="32918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06240" y="4663440"/>
            <a:ext cx="914400" cy="914400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0" y="48006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4663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"/>
              </a:defRPr>
            </a:pPr>
            <a:r>
              <a:t>&lt; 1s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AI Response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4389120"/>
            <a:ext cx="32918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63840" y="4663440"/>
            <a:ext cx="914400" cy="914400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48006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4663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ML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01. OSG-myG-PORTAL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  <a:latin typeface="Segoe UI"/>
              </a:defRPr>
            </a:pPr>
            <a:r>
              <a:t>CLAIMS MANAGEMENT &amp; WHATSAPP AUTOMATION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645920"/>
            <a:ext cx="45720" cy="457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57300" y="2011680"/>
            <a:ext cx="274320" cy="274320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28800" y="1645920"/>
            <a:ext cx="9144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18288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WhatsApp API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19456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Engineered automated messaging pipelines for portal events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Configured 4 WhatsApp templates: Registered, Replacement, Repair Completed, Spare Parts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Debugged payload routing for reliable outbound notifications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Built trigger buttons in portal for WhatsApp message dispatch</a:t>
            </a:r>
          </a:p>
        </p:txBody>
      </p:sp>
      <p:sp>
        <p:nvSpPr>
          <p:cNvPr id="10" name="Oval 9"/>
          <p:cNvSpPr/>
          <p:nvPr/>
        </p:nvSpPr>
        <p:spPr>
          <a:xfrm>
            <a:off x="1257300" y="4206240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28800" y="3840480"/>
            <a:ext cx="91440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40233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Claims Processing &amp; Data Forensics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389120"/>
            <a:ext cx="8686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Developed investigative scripts to trace and resolve claim anomalies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Built repair utilities to retroactively fix corrupted claim states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SR Number auto-generation on status change (Submit → Registered)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Google Sheets bi-directional sync for claim tracking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Massive data parsers for legacy Excel imports (17MB+ files)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02. ENTERPRISE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  <a:latin typeface="Segoe UI"/>
              </a:defRPr>
            </a:pPr>
            <a:r>
              <a:t>NATURAL LANGUAGE BUSINESS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10362895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182880" cy="201168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828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Multi-Layered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9456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64748B"/>
                </a:solidFill>
                <a:latin typeface="Segoe UI"/>
              </a:defRPr>
            </a:pPr>
            <a:r>
              <a:t>SQL Agent: Translates natural language into complex PostgreSQL queries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64748B"/>
                </a:solidFill>
                <a:latin typeface="Segoe UI"/>
              </a:defRPr>
            </a:pPr>
            <a:r>
              <a:t>AI Analyst: Interprets raw DB output into readable business insights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64748B"/>
                </a:solidFill>
                <a:latin typeface="Segoe UI"/>
              </a:defRPr>
            </a:pPr>
            <a:r>
              <a:t>FastPath Engine: Common queries answered in &lt; 0.2 seconds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64748B"/>
                </a:solidFill>
                <a:latin typeface="Segoe UI"/>
              </a:defRPr>
            </a:pPr>
            <a:r>
              <a:t>16-phase implementation covering Foundation to Export System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64748B"/>
                </a:solidFill>
                <a:latin typeface="Segoe UI"/>
              </a:defRPr>
            </a:pPr>
            <a:r>
              <a:t>Schema context injection prevents AI hallucinations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023360"/>
            <a:ext cx="10362895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4023360"/>
            <a:ext cx="182880" cy="1828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2062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LLM Integration &amp;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5720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64748B"/>
                </a:solidFill>
                <a:latin typeface="Segoe UI"/>
              </a:defRPr>
            </a:pPr>
            <a:r>
              <a:t>NVIDIA NIM API (Nemotron Ultra) for SQL generation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64748B"/>
                </a:solidFill>
                <a:latin typeface="Segoe UI"/>
              </a:defRPr>
            </a:pPr>
            <a:r>
              <a:t>OpenRouter API as fallback LLM provider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64748B"/>
                </a:solidFill>
                <a:latin typeface="Segoe UI"/>
              </a:defRPr>
            </a:pPr>
            <a:r>
              <a:t>Response time reduced from 5-10 minutes to &lt; 1 second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64748B"/>
                </a:solidFill>
                <a:latin typeface="Segoe UI"/>
              </a:defRPr>
            </a:pPr>
            <a:r>
              <a:t>Aggressive prompt engineering &amp; query scope reduction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400">
                <a:solidFill>
                  <a:srgbClr val="64748B"/>
                </a:solidFill>
                <a:latin typeface="Segoe UI"/>
              </a:defRPr>
            </a:pPr>
            <a:r>
              <a:t>Validated with 20+ test business questions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03. DATABASE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  <a:latin typeface="Segoe UI"/>
              </a:defRPr>
            </a:pPr>
            <a:r>
              <a:t>12.6M+ ROWS · DIGITALOCEAN POSTGRESQL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4747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8FAFC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Materialized View Overhaul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Diagnosed critical cross-join bug in mv_yearly_cohort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Built robust refresh system for 26 materialized views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Concurrent regeneration without database locks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34747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5544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8FAFC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Caching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9260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Integrated Redis for production caching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LocMemCache for local development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12.6M+ row calculations reduced to sub-second responses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63040"/>
            <a:ext cx="34747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5544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8FAFC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Data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9260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Custom scripts bypass web-server timeouts for large uploads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Automated scrubbing of anomalous data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Data integrity verification: 5M+ total records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04.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  <a:latin typeface="Segoe UI"/>
              </a:defRPr>
            </a:pPr>
            <a:r>
              <a:t>LIVE FORECASTING ENGINES &amp; DATA 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86400" cy="4846320"/>
          </a:xfrm>
          <a:prstGeom prst="round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Model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1500">
                <a:solidFill>
                  <a:srgbClr val="DBEAFE"/>
                </a:solidFill>
                <a:latin typeface="Segoe UI"/>
              </a:defRPr>
            </a:pPr>
            <a:r>
              <a:t>Random Forest — Ensemble decision tree model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500">
                <a:solidFill>
                  <a:srgbClr val="DBEAFE"/>
                </a:solidFill>
                <a:latin typeface="Segoe UI"/>
              </a:defRPr>
            </a:pPr>
            <a:r>
              <a:t>MLPRegressor — Neural Network proxy for patterns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500">
                <a:solidFill>
                  <a:srgbClr val="DBEAFE"/>
                </a:solidFill>
                <a:latin typeface="Segoe UI"/>
              </a:defRPr>
            </a:pPr>
            <a:r>
              <a:t>GradientBoostingRegressor — Sequential boosting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500">
                <a:solidFill>
                  <a:srgbClr val="DBEAFE"/>
                </a:solidFill>
                <a:latin typeface="Segoe UI"/>
              </a:defRPr>
            </a:pPr>
            <a:r>
              <a:t>LSTM deep learning model on historical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MalayalamCalendarFeaturizer — Kerala-specific feature engine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Converts dates to arrays with festival proximity (Onam, Vishu)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Real-time sales prediction from mid-day actuals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2336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297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Dormant Reactivation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7548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SQL pre-aggregation engines for dormant customer bucketing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Cohort-based analysis across 2020-2025 cohorts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UI Visualizers: Probability Gauges, Semi-Donut Charts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29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12191695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05. EVALUATION &amp; EVENT PORTALS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  <a:latin typeface="Segoe UI"/>
              </a:defRPr>
            </a:pPr>
            <a:r>
              <a:t>SHE START &amp; BIGG BOSS/FONEFLIX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Segoe UI"/>
              </a:defRPr>
            </a:pPr>
            <a:r>
              <a:t>SHE START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DBEAFE"/>
                </a:solidFill>
                <a:latin typeface="Segoe UI"/>
              </a:defRPr>
            </a:pPr>
            <a:r>
              <a:t>Live Google Sheets Sync: gspread library for bidirectional sync (25-second refresh)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DBEAFE"/>
                </a:solidFill>
                <a:latin typeface="Segoe UI"/>
              </a:defRPr>
            </a:pPr>
            <a:r>
              <a:t>6-Panelist Scoring Algorithm: Auto-drop highest/lowest scores to prevent bias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DBEAFE"/>
                </a:solidFill>
                <a:latin typeface="Segoe UI"/>
              </a:defRPr>
            </a:pPr>
            <a:r>
              <a:t>Interactive Dashboard: Inline cell editing with silent auto-save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DBEAFE"/>
                </a:solidFill>
                <a:latin typeface="Segoe UI"/>
              </a:defRPr>
            </a:pPr>
            <a:r>
              <a:t>Auto badging: Strong Selection, Waitlist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6FF"/>
                </a:solidFill>
                <a:latin typeface="Segoe UI"/>
              </a:defRPr>
            </a:pPr>
            <a:r>
              <a:t>BIGG BOSS / FoneFlix Registration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Video Upload Architecture: Custom OAuth 2.0 Google Drive integration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Dynamic UI/UX: OTT reality-show aesthetics, neon-glow typography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Project Pivot: Successfully transitioned codebase from Bigg Boss to FoneFlix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1E293B"/>
                </a:solidFill>
                <a:latin typeface="Segoe UI"/>
              </a:defRPr>
            </a:pPr>
            <a:r>
              <a:t>Refactored form inputs, consent clauses, and branding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06. ALL PROJECTS DELIVERED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  <a:latin typeface="Segoe UI"/>
              </a:defRPr>
            </a:pPr>
            <a:r>
              <a:t>Q2 2026 PORTFOLIO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11274552" cy="45720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508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91440" cy="4572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OSG-myG-PORTAL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194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Claims Management + WhatsApp Automation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2176272"/>
            <a:ext cx="1371600" cy="310896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219456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FF"/>
                </a:solidFill>
                <a:latin typeface="Segoe UI"/>
              </a:defRPr>
            </a:pPr>
            <a:r>
              <a:t>Render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06039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606039"/>
            <a:ext cx="9144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6974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myG Loyalty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69747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Enterprise Analytics + AI Agent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2679191"/>
            <a:ext cx="1371600" cy="310896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2697479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FF"/>
                </a:solidFill>
                <a:latin typeface="Segoe UI"/>
              </a:defRPr>
            </a:pPr>
            <a:r>
              <a:t>Render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08960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108960"/>
            <a:ext cx="91440" cy="4572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SHE START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Startup Evaluation System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3182112"/>
            <a:ext cx="1371600" cy="310896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320040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FF"/>
                </a:solidFill>
                <a:latin typeface="Segoe UI"/>
              </a:defRPr>
            </a:pPr>
            <a:r>
              <a:t>Render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611880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611880"/>
            <a:ext cx="9144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703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BIGBOSS / FoneFlix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3703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Registration + Video Upload Portal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60" y="3685032"/>
            <a:ext cx="1371600" cy="310896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60" y="370332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FF"/>
                </a:solidFill>
                <a:latin typeface="Segoe UI"/>
              </a:defRPr>
            </a:pPr>
            <a:r>
              <a:t>Render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114800"/>
            <a:ext cx="91440" cy="4572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HR E-Signature Portal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4206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Employee Signature System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09760" y="4187952"/>
            <a:ext cx="1371600" cy="310896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0" y="420624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FF"/>
                </a:solidFill>
                <a:latin typeface="Segoe UI"/>
              </a:defRPr>
            </a:pPr>
            <a:r>
              <a:t>Render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617720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4617720"/>
            <a:ext cx="9144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47091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FIFA World Cup Contest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470915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Prediction &amp; Leaderboard Platform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09760" y="4690872"/>
            <a:ext cx="1371600" cy="310896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60" y="4709159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FF"/>
                </a:solidFill>
                <a:latin typeface="Segoe UI"/>
              </a:defRPr>
            </a:pPr>
            <a:r>
              <a:t>Vercel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120640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5120640"/>
            <a:ext cx="91440" cy="4572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52120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Enterprise AI Agent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521207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Natural Language -&gt; SQL Business Intel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09760" y="5193792"/>
            <a:ext cx="1371600" cy="310896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760" y="5212079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FF"/>
                </a:solidFill>
                <a:latin typeface="Segoe UI"/>
              </a:defRPr>
            </a:pPr>
            <a:r>
              <a:t>Integrated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623560"/>
            <a:ext cx="11274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7200" y="5623560"/>
            <a:ext cx="9144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5715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n8n Chat Agent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0" y="5715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Automated AI Chat Widget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509760" y="5696712"/>
            <a:ext cx="1371600" cy="310896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09760" y="571500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FF"/>
                </a:solidFill>
                <a:latin typeface="Segoe UI"/>
              </a:defRPr>
            </a:pPr>
            <a:r>
              <a:t>n8n Cloud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23390" y="-2286000"/>
            <a:ext cx="9144000" cy="9144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894990" y="-914400"/>
            <a:ext cx="6400800" cy="6400800"/>
          </a:xfrm>
          <a:prstGeom prst="ellipse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5603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F172A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638190" y="3657600"/>
            <a:ext cx="9144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Segoe UI"/>
              </a:defRPr>
            </a:pPr>
            <a:r>
              <a:t>Jasil N Balussery | Technology / Software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3891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FF"/>
                </a:solidFill>
                <a:latin typeface="Segoe UI"/>
              </a:defRPr>
            </a:pPr>
            <a:r>
              <a:t>April | May |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