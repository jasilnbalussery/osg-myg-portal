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 panose="020B0502040204020203"/>
              </a:defRPr>
            </a:pPr>
            <a:r>
              <a:t>QUARTERLY 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0" b="1">
                <a:solidFill>
                  <a:srgbClr val="FFFFFF"/>
                </a:solidFill>
                <a:latin typeface="Segoe UI" panose="020B0502040204020203"/>
              </a:defRPr>
            </a:pPr>
            <a:r>
              <a:rPr>
                <a:solidFill>
                  <a:schemeClr val="tx1"/>
                </a:solidFill>
              </a:rPr>
              <a:t>Q2 2026 WORK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SUMMARY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3840480"/>
            <a:ext cx="1828800" cy="73152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 panose="020B0502040204020203"/>
              </a:defRPr>
            </a:pPr>
            <a:r>
              <a:t>Jasil N Balussery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BEAFE"/>
                </a:solidFill>
                <a:latin typeface="Segoe UI" panose="020B0502040204020203"/>
              </a:defRPr>
            </a:pPr>
            <a:r>
              <a:rPr>
                <a:solidFill>
                  <a:schemeClr val="tx1"/>
                </a:solidFill>
              </a:rPr>
              <a:t>Technology / Software Development | myG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 panose="020B0502040204020203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BEAFE"/>
                </a:solidFill>
                <a:latin typeface="Segoe UI" panose="020B0502040204020203"/>
              </a:defRPr>
            </a:pPr>
            <a:r>
              <a:t>During Q2 2026, extensive full-stack development, database engineering, AI/ML integration, and multiple greenfield product launches were delivered across </a:t>
            </a:r>
            <a:r>
              <a:rPr lang="en-IN"/>
              <a:t>5</a:t>
            </a:r>
            <a:r>
              <a:t> distinct projects. Work spanned Python (Flask/Django), PostgreSQL, JavaScript, Machine Learning, LLM integration, Google APIs, and cloud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2834639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 panose="020B0502040204020203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34639"/>
            <a:ext cx="22860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 panose="020B0502040204020203"/>
              </a:defRPr>
            </a:pPr>
            <a:r>
              <a:rPr lang="en-IN"/>
              <a:t>5</a:t>
            </a:r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1645920" y="3383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 panose="020B0502040204020203"/>
              </a:defRPr>
            </a:pPr>
            <a:r>
              <a:t>Projects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603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2834639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310515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 panose="020B0502040204020203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346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 panose="020B0502040204020203"/>
              </a:defRPr>
            </a:pPr>
            <a:r>
              <a:t>80+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383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 panose="020B0502040204020203"/>
              </a:defRPr>
            </a:pPr>
            <a:r>
              <a:t>Dev Sessions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5603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63840" y="2834639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0861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 panose="020B0502040204020203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8346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 panose="020B0502040204020203"/>
              </a:defRPr>
            </a:pPr>
            <a:r>
              <a:t>12.6M+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383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 panose="020B0502040204020203"/>
              </a:defRPr>
            </a:pPr>
            <a:r>
              <a:t>DB Rows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8640" y="4663440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3395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 panose="020B0502040204020203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663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 panose="020B0502040204020203"/>
              </a:defRPr>
            </a:pPr>
            <a:r>
              <a:t>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 panose="020B0502040204020203"/>
              </a:defRPr>
            </a:pPr>
            <a:r>
              <a:t>Mat Views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3891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06240" y="4663440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4943475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 panose="020B0502040204020203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663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 panose="020B0502040204020203"/>
              </a:defRPr>
            </a:pPr>
            <a:r>
              <a:t>&lt; 1s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 panose="020B0502040204020203"/>
              </a:defRPr>
            </a:pPr>
            <a:r>
              <a:t>AI Response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3891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63840" y="4663440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4943475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 panose="020B0502040204020203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663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 panose="020B0502040204020203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 panose="020B0502040204020203"/>
              </a:defRPr>
            </a:pPr>
            <a:r>
              <a:t>ML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 panose="020B0502040204020203"/>
              </a:defRPr>
            </a:pPr>
            <a:r>
              <a:t>01. OSG-myG-PORTAL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 panose="020B0502040204020203"/>
              </a:defRPr>
            </a:pPr>
            <a:r>
              <a:t>CLAIMS MANAGEMENT &amp; WHATSAPP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45720" cy="457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57300" y="2011680"/>
            <a:ext cx="274320" cy="27432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1645920"/>
            <a:ext cx="9144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828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 panose="020B0502040204020203"/>
              </a:defRPr>
            </a:pPr>
            <a:r>
              <a:t>WhatsApp API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945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Engineered automated messaging pipelines for portal events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Configured 4 WhatsApp templates: Registered, Replacement, Repair Completed, Spare Parts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Debugged payload routing for reliable outbound notifications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Built trigger buttons in portal for WhatsApp message dispatch</a:t>
            </a:r>
          </a:p>
        </p:txBody>
      </p:sp>
      <p:sp>
        <p:nvSpPr>
          <p:cNvPr id="10" name="Oval 9"/>
          <p:cNvSpPr/>
          <p:nvPr/>
        </p:nvSpPr>
        <p:spPr>
          <a:xfrm>
            <a:off x="1257300" y="420624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3840480"/>
            <a:ext cx="9144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4023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 panose="020B0502040204020203"/>
              </a:defRPr>
            </a:pPr>
            <a:r>
              <a:t>Claims Processing &amp; Data Forensics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38912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Developed investigative scripts to trace and resolve claim anomalies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Built repair utilities to retroactively fix corrupted claim states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SR Number auto-generation on status change (Submit → Registered)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Google Sheets bi-directional sync for claim tracking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Massive data parsers for legacy Excel imports (17MB+ files)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 panose="020B0502040204020203"/>
              </a:defRPr>
            </a:pPr>
            <a:r>
              <a:t>02. ENTERPRISE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 panose="020B0502040204020203"/>
              </a:defRPr>
            </a:pPr>
            <a:r>
              <a:t>NATURAL LANGUAGE BUSINESS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82880" cy="201168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 panose="020B0502040204020203"/>
              </a:defRPr>
            </a:pPr>
            <a:r>
              <a:t>Multi-Layered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945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 panose="020B0502040204020203"/>
              </a:defRPr>
            </a:pPr>
            <a:r>
              <a:t>SQL Agent: Translates natural language into complex PostgreSQL queries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 panose="020B0502040204020203"/>
              </a:defRPr>
            </a:pPr>
            <a:r>
              <a:t>AI Analyst: Interprets raw DB output into readable business insights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 panose="020B0502040204020203"/>
              </a:defRPr>
            </a:pPr>
            <a:r>
              <a:t>FastPath Engine: Common queries answered in &lt; 0.2 seconds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 panose="020B0502040204020203"/>
              </a:defRPr>
            </a:pPr>
            <a:r>
              <a:t>16-phase implementation covering Foundation to Export System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 panose="020B0502040204020203"/>
              </a:defRPr>
            </a:pPr>
            <a:r>
              <a:t>Schema context injection prevents AI hallucinations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023360"/>
            <a:ext cx="182880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206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 panose="020B0502040204020203"/>
              </a:defRPr>
            </a:pPr>
            <a:r>
              <a:t>LLM Integration &amp;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5720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 panose="020B0502040204020203"/>
              </a:defRPr>
            </a:pPr>
            <a:r>
              <a:t>NVIDIA NIM API (Nemotron Ultra) for SQL generation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 panose="020B0502040204020203"/>
              </a:defRPr>
            </a:pPr>
            <a:r>
              <a:t>OpenRouter API as fallback LLM provider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 panose="020B0502040204020203"/>
              </a:defRPr>
            </a:pPr>
            <a:r>
              <a:t>Response time reduced from 5-10 minutes to &lt; 1 second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 panose="020B0502040204020203"/>
              </a:defRPr>
            </a:pPr>
            <a:r>
              <a:t>Aggressive prompt engineering &amp; query scope reduction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 panose="020B0502040204020203"/>
              </a:defRPr>
            </a:pPr>
            <a:r>
              <a:t>Validated with 20+ test business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 panose="020B0502040204020203"/>
              </a:defRPr>
            </a:pPr>
            <a:r>
              <a:t>03. DATABASE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 panose="020B0502040204020203"/>
              </a:defRPr>
            </a:pPr>
            <a:r>
              <a:t>12.6M+ ROWS · DIGITALOCEAN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8FAFC"/>
                </a:solidFill>
                <a:latin typeface="Segoe UI" panose="020B0502040204020203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 panose="020B0502040204020203"/>
              </a:defRPr>
            </a:pPr>
            <a:r>
              <a:t>Materialized View Overhaul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Diagnosed critical cross-join bug in mv_yearly_cohort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Built robust refresh system for 26 materialized views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Concurrent regeneration without database locks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8FAFC"/>
                </a:solidFill>
                <a:latin typeface="Segoe UI" panose="020B0502040204020203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 panose="020B0502040204020203"/>
              </a:defRPr>
            </a:pPr>
            <a:r>
              <a:t>Caching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Integrated Redis for production caching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LocMemCache for local development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12.6M+ row calculations reduced to sub-second responses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8FAFC"/>
                </a:solidFill>
                <a:latin typeface="Segoe UI" panose="020B0502040204020203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 panose="020B0502040204020203"/>
              </a:defRPr>
            </a:pPr>
            <a:r>
              <a:t>Data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Custom scripts bypass web-server timeouts for large uploads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Automated scrubbing of anomalous data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Data integrity verification: 5M+ total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 panose="020B0502040204020203"/>
              </a:defRPr>
            </a:pPr>
            <a:r>
              <a:t>04.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 panose="020B0502040204020203"/>
              </a:defRPr>
            </a:pPr>
            <a:r>
              <a:t>LIVE FORECASTING ENGINES &amp; DATA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4846320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 panose="020B0502040204020203"/>
              </a:defRPr>
            </a:pPr>
            <a:r>
              <a:t>Model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500">
                <a:solidFill>
                  <a:srgbClr val="DBEAFE"/>
                </a:solidFill>
                <a:latin typeface="Segoe UI" panose="020B0502040204020203"/>
              </a:defRPr>
            </a:pPr>
            <a:r>
              <a:t>Random Forest — Ensemble decision tree model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500">
                <a:solidFill>
                  <a:srgbClr val="DBEAFE"/>
                </a:solidFill>
                <a:latin typeface="Segoe UI" panose="020B0502040204020203"/>
              </a:defRPr>
            </a:pPr>
            <a:r>
              <a:t>MLPRegressor — Neural Network proxy for patterns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500">
                <a:solidFill>
                  <a:srgbClr val="DBEAFE"/>
                </a:solidFill>
                <a:latin typeface="Segoe UI" panose="020B0502040204020203"/>
              </a:defRPr>
            </a:pPr>
            <a:r>
              <a:t>GradientBoostingRegressor — Sequential boosting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500">
                <a:solidFill>
                  <a:srgbClr val="DBEAFE"/>
                </a:solidFill>
                <a:latin typeface="Segoe UI" panose="020B0502040204020203"/>
              </a:defRPr>
            </a:pPr>
            <a:r>
              <a:t>LSTM deep learning model on historical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 panose="020B0502040204020203"/>
              </a:defRPr>
            </a:pPr>
            <a:r>
              <a:t>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MalayalamCalendarFeaturizer — Kerala-specific feature engine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Converts dates to arrays with festival proximity (Onam, Vishu)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Real-time sales prediction from mid-day actuals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 panose="020B0502040204020203"/>
              </a:defRPr>
            </a:pPr>
            <a:r>
              <a:t>Dormant Reactivation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548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SQL pre-aggregation engines for dormant customer bucketing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Cohort-based analysis across 2020-2025 cohorts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 panose="020B0502040204020203"/>
              </a:defRPr>
            </a:pPr>
            <a:r>
              <a:t>UI Visualizers: Probability Gauges, Semi-Donut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 panose="020B0502040204020203"/>
              </a:defRPr>
            </a:pPr>
            <a:r>
              <a:t>05. EVALUATION &amp; EVENT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 panose="020B0502040204020203"/>
              </a:defRPr>
            </a:pPr>
            <a:r>
              <a:t>SHE START &amp; BIGG BOSS/FONEFLIX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 panose="020B0502040204020203"/>
              </a:defRPr>
            </a:pPr>
            <a:r>
              <a:t>SHE START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BEAFE"/>
                </a:solidFill>
                <a:latin typeface="Segoe UI" panose="020B0502040204020203"/>
              </a:defRPr>
            </a:pPr>
            <a:r>
              <a:t>Live Google Sheets Sync: gspread library for bidirectional sync (25-second refresh)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BEAFE"/>
                </a:solidFill>
                <a:latin typeface="Segoe UI" panose="020B0502040204020203"/>
              </a:defRPr>
            </a:pPr>
            <a:r>
              <a:t>6-Panelist Scoring Algorithm: Auto-drop highest/lowest scores to prevent bias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BEAFE"/>
                </a:solidFill>
                <a:latin typeface="Segoe UI" panose="020B0502040204020203"/>
              </a:defRPr>
            </a:pPr>
            <a:r>
              <a:t>Interactive Dashboard: Inline cell editing with silent auto-save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BEAFE"/>
                </a:solidFill>
                <a:latin typeface="Segoe UI" panose="020B0502040204020203"/>
              </a:defRPr>
            </a:pPr>
            <a:r>
              <a:t>Auto badging: Strong Selection, Waitlist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FF"/>
                </a:solidFill>
                <a:latin typeface="Segoe UI" panose="020B0502040204020203"/>
              </a:defRPr>
            </a:pPr>
            <a:r>
              <a:t>BIGG BOSS / FoneFlix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  <a:latin typeface="Segoe UI" panose="020B0502040204020203"/>
              </a:defRPr>
            </a:pPr>
            <a:r>
              <a:t>Video Upload Architecture: Custom OAuth 2.0 Google Drive integration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  <a:latin typeface="Segoe UI" panose="020B0502040204020203"/>
              </a:defRPr>
            </a:pPr>
            <a:r>
              <a:t>Dynamic UI/UX: OTT reality-show aesthetics, neon-glow typography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  <a:latin typeface="Segoe UI" panose="020B0502040204020203"/>
              </a:defRPr>
            </a:pPr>
            <a:r>
              <a:t>Project Pivot: Successfully transitioned codebase from Bigg Boss to FoneFlix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  <a:latin typeface="Segoe UI" panose="020B0502040204020203"/>
              </a:defRPr>
            </a:pPr>
            <a:r>
              <a:t>Refactored form inputs, consent clauses, and branding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 panose="020B0502040204020203"/>
              </a:defRPr>
            </a:pPr>
            <a:r>
              <a:t>06. ALL PROJECTS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 panose="020B0502040204020203"/>
              </a:defRPr>
            </a:pPr>
            <a:r>
              <a:t>Q2 2026 PORTFOLIO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74552" cy="4572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 panose="020B0502040204020203"/>
              </a:defRPr>
            </a:pPr>
            <a: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 panose="020B0502040204020203"/>
              </a:defRPr>
            </a:pPr>
            <a: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 panose="020B0502040204020203"/>
              </a:defRPr>
            </a:pPr>
            <a:r>
              <a:t>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91440" cy="4572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 panose="020B0502040204020203"/>
              </a:defRPr>
            </a:pPr>
            <a:r>
              <a:t>OSG-myG-PORTAL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 panose="020B0502040204020203"/>
              </a:defRPr>
            </a:pPr>
            <a:r>
              <a:t>Claims Management + WhatsApp Automation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17627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 panose="020B0502040204020203"/>
              </a:defRPr>
            </a:pPr>
            <a:r>
              <a:t>Render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39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06039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974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 panose="020B0502040204020203"/>
              </a:defRPr>
            </a:pPr>
            <a:r>
              <a:t>myG Loyalty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6974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 panose="020B0502040204020203"/>
              </a:defRPr>
            </a:pPr>
            <a:r>
              <a:t>Enterprise Analytics + AI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2679191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69747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 panose="020B0502040204020203"/>
              </a:defRPr>
            </a:pPr>
            <a:r>
              <a:t>Render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108960"/>
            <a:ext cx="91440" cy="4572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 panose="020B0502040204020203"/>
              </a:defRPr>
            </a:pPr>
            <a:r>
              <a:t>SHE START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 panose="020B0502040204020203"/>
              </a:defRPr>
            </a:pPr>
            <a:r>
              <a:t>Startup Evaluation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318211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320040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 panose="020B0502040204020203"/>
              </a:defRPr>
            </a:pPr>
            <a:r>
              <a:t>Render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611880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 panose="020B0502040204020203"/>
              </a:defRPr>
            </a:pPr>
            <a:r>
              <a:t>BIGBOSS / FoneFlix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 panose="020B0502040204020203"/>
              </a:defRPr>
            </a:pPr>
            <a:r>
              <a:t>Registration + Video Upload Portal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368503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370332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 panose="020B0502040204020203"/>
              </a:defRPr>
            </a:pPr>
            <a:r>
              <a:t>Render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114800"/>
            <a:ext cx="91440" cy="4572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 panose="020B0502040204020203"/>
              </a:defRPr>
            </a:pPr>
            <a:r>
              <a:t>HR E-Signature Portal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 panose="020B0502040204020203"/>
              </a:defRPr>
            </a:pPr>
            <a:r>
              <a:t>Employee Signature System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0" y="418795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420624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 panose="020B0502040204020203"/>
              </a:defRPr>
            </a:pPr>
            <a:r>
              <a:t>Render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61772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617720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7091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 panose="020B0502040204020203"/>
              </a:defRPr>
            </a:pPr>
            <a:r>
              <a:t>FIFA World Cup Contest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7091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 panose="020B0502040204020203"/>
              </a:defRPr>
            </a:pPr>
            <a:r>
              <a:t>Prediction &amp; Leaderboard Platform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0" y="469087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470915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 panose="020B0502040204020203"/>
              </a:defRPr>
            </a:pPr>
            <a:r>
              <a:t>Vercel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120640"/>
            <a:ext cx="91440" cy="4572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212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 panose="020B0502040204020203"/>
              </a:defRPr>
            </a:pPr>
            <a:r>
              <a:t>Enterprise AI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52120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 panose="020B0502040204020203"/>
              </a:defRPr>
            </a:pPr>
            <a:r>
              <a:t>Natural Language -&gt; SQL Business Intel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60" y="519379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521207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 panose="020B0502040204020203"/>
              </a:defRPr>
            </a:pPr>
            <a:r>
              <a:t>Integrated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62356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5623560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715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 panose="020B0502040204020203"/>
              </a:defRPr>
            </a:pPr>
            <a:r>
              <a:t>n8n Chat 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5715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 panose="020B0502040204020203"/>
              </a:defRPr>
            </a:pPr>
            <a:r>
              <a:t>Automated AI Chat Widget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60" y="569671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760" y="571500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 panose="020B0502040204020203"/>
              </a:defRPr>
            </a:pPr>
            <a:r>
              <a:t>n8n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29560" y="360045"/>
            <a:ext cx="6532880" cy="613727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94965" y="1785620"/>
            <a:ext cx="6400800" cy="3700780"/>
          </a:xfrm>
          <a:prstGeom prst="ellipse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F172A"/>
                </a:solidFill>
                <a:latin typeface="Segoe UI" panose="020B0502040204020203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190" y="3657600"/>
            <a:ext cx="9144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Segoe UI" panose="020B0502040204020203"/>
              </a:defRPr>
            </a:pPr>
            <a:r>
              <a:t>Jasil N Balussery | Technology / Software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FF"/>
                </a:solidFill>
                <a:latin typeface="Segoe UI" panose="020B0502040204020203"/>
              </a:defRPr>
            </a:pPr>
            <a:r>
              <a:t>April | May |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4280</Words>
  <Application>WPS Presentation</Application>
  <PresentationFormat>On-screen Show (4:3)</PresentationFormat>
  <Paragraphs>220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Jasil Loyalty</cp:lastModifiedBy>
  <cp:revision>2</cp:revision>
  <dcterms:created xsi:type="dcterms:W3CDTF">2013-01-27T09:14:00Z</dcterms:created>
  <dcterms:modified xsi:type="dcterms:W3CDTF">2026-07-16T04:38:32Z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469F8994D12348D4B7E2334187A303B8_12</vt:lpwstr>
  </property>
  <property fmtid="{D5CDD505-2E9C-101B-9397-08002B2CF9AE}" pid="3" name="KSOProductBuildVer">
    <vt:lpwstr>1033-12.1.0.26880</vt:lpwstr>
  </property>
</Properties>
</file>