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126480" cy="6858000"/>
          </a:xfrm>
          <a:prstGeom prst="rect">
            <a:avLst/>
          </a:prstGeom>
          <a:solidFill>
            <a:srgbClr val="09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126480" cy="45720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6126480" cy="45720"/>
          </a:xfrm>
          <a:prstGeom prst="rect">
            <a:avLst/>
          </a:prstGeom>
          <a:solidFill>
            <a:srgbClr val="A7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9728"/>
            <a:ext cx="6126480" cy="45720"/>
          </a:xfrm>
          <a:prstGeom prst="rect">
            <a:avLst/>
          </a:prstGeom>
          <a:solidFill>
            <a:srgbClr val="F04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0" y="0"/>
            <a:ext cx="16459" cy="685800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65392" y="0"/>
            <a:ext cx="16459" cy="685800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67144" y="0"/>
            <a:ext cx="16459" cy="685800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68896" y="0"/>
            <a:ext cx="16459" cy="685800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0"/>
            <a:ext cx="16459" cy="685800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0" y="0"/>
            <a:ext cx="16459" cy="685800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74152" y="0"/>
            <a:ext cx="16459" cy="685800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75904" y="0"/>
            <a:ext cx="16459" cy="685800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77656" y="0"/>
            <a:ext cx="16459" cy="685800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79408" y="0"/>
            <a:ext cx="16459" cy="685800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81160" y="0"/>
            <a:ext cx="16459" cy="685800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82912" y="0"/>
            <a:ext cx="16459" cy="685800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884663" y="0"/>
            <a:ext cx="16459" cy="685800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186416" y="0"/>
            <a:ext cx="16459" cy="685800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488167" y="0"/>
            <a:ext cx="16459" cy="685800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0" y="0"/>
            <a:ext cx="16459" cy="685800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091672" y="0"/>
            <a:ext cx="16459" cy="685800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393424" y="0"/>
            <a:ext cx="16459" cy="685800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695176" y="0"/>
            <a:ext cx="16459" cy="685800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996928" y="0"/>
            <a:ext cx="16459" cy="685800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15200" y="1558636"/>
            <a:ext cx="4937759" cy="4114800"/>
          </a:xfrm>
          <a:prstGeom prst="ellipse">
            <a:avLst/>
          </a:prstGeom>
          <a:solidFill>
            <a:srgbClr val="004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15200" y="2098963"/>
            <a:ext cx="3511296" cy="2926080"/>
          </a:xfrm>
          <a:prstGeom prst="ellipse">
            <a:avLst/>
          </a:prstGeom>
          <a:solidFill>
            <a:srgbClr val="003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15200" y="2680854"/>
            <a:ext cx="1975104" cy="1645920"/>
          </a:xfrm>
          <a:prstGeom prst="ellipse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74980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8BFF"/>
                </a:solidFill>
                <a:latin typeface="Calibri"/>
              </a:rPr>
              <a:t>APRIL  |  MAY  |  JUNE 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1261872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EEF2FF"/>
                </a:solidFill>
                <a:latin typeface="Calibri"/>
              </a:rPr>
              <a:t>OSG myG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219456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388BFF"/>
                </a:solidFill>
                <a:latin typeface="Calibri"/>
              </a:rPr>
              <a:t>Portal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310896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76AFF"/>
                </a:solidFill>
                <a:latin typeface="Calibri"/>
              </a:rPr>
              <a:t>Q2 2026  Work Summary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749039"/>
            <a:ext cx="3200400" cy="36576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39136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FC2"/>
                </a:solidFill>
                <a:latin typeface="Calibri"/>
              </a:rPr>
              <a:t>Prepared for Manager Review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960120"/>
            <a:ext cx="5303520" cy="1234440"/>
          </a:xfrm>
          <a:prstGeom prst="rect">
            <a:avLst/>
          </a:prstGeom>
          <a:solidFill>
            <a:srgbClr val="0C1528"/>
          </a:solidFill>
          <a:ln w="3810">
            <a:solidFill>
              <a:srgbClr val="1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0" y="960120"/>
            <a:ext cx="54864" cy="1234440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48272" y="10515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8BFF"/>
                </a:solidFill>
                <a:latin typeface="Calibri"/>
              </a:rPr>
              <a:t>PROJECT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48272" y="1399032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EF2FF"/>
                </a:solidFill>
                <a:latin typeface="Calibri"/>
              </a:rPr>
              <a:t>OSG myG Customer Portal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2350008"/>
            <a:ext cx="5303520" cy="1234440"/>
          </a:xfrm>
          <a:prstGeom prst="rect">
            <a:avLst/>
          </a:prstGeom>
          <a:solidFill>
            <a:srgbClr val="0C1528"/>
          </a:solidFill>
          <a:ln w="3810">
            <a:solidFill>
              <a:srgbClr val="1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83680" y="2350008"/>
            <a:ext cx="54864" cy="1234440"/>
          </a:xfrm>
          <a:prstGeom prst="rect">
            <a:avLst/>
          </a:prstGeom>
          <a:solidFill>
            <a:srgbClr val="A7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48272" y="24414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6AFF"/>
                </a:solidFill>
                <a:latin typeface="Calibri"/>
              </a:rPr>
              <a:t>ROLE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48272" y="2788920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EF2FF"/>
                </a:solidFill>
                <a:latin typeface="Calibri"/>
              </a:rPr>
              <a:t>Full Stack Python Developer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3739896"/>
            <a:ext cx="5303520" cy="1234440"/>
          </a:xfrm>
          <a:prstGeom prst="rect">
            <a:avLst/>
          </a:prstGeom>
          <a:solidFill>
            <a:srgbClr val="0C1528"/>
          </a:solidFill>
          <a:ln w="3810">
            <a:solidFill>
              <a:srgbClr val="1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83680" y="3739896"/>
            <a:ext cx="54864" cy="1234440"/>
          </a:xfrm>
          <a:prstGeom prst="rect">
            <a:avLst/>
          </a:prstGeom>
          <a:solidFill>
            <a:srgbClr val="0D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48272" y="3831335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C88A"/>
                </a:solidFill>
                <a:latin typeface="Calibri"/>
              </a:rPr>
              <a:t>STACK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48272" y="4178808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EF2FF"/>
                </a:solidFill>
                <a:latin typeface="Calibri"/>
              </a:rPr>
              <a:t>Flask · PostgreSQL · JS · CSS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5129784"/>
            <a:ext cx="5303520" cy="1234440"/>
          </a:xfrm>
          <a:prstGeom prst="rect">
            <a:avLst/>
          </a:prstGeom>
          <a:solidFill>
            <a:srgbClr val="0C1528"/>
          </a:solidFill>
          <a:ln w="3810">
            <a:solidFill>
              <a:srgbClr val="1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83680" y="5129784"/>
            <a:ext cx="54864" cy="1234440"/>
          </a:xfrm>
          <a:prstGeom prst="rect">
            <a:avLst/>
          </a:prstGeom>
          <a:solidFill>
            <a:srgbClr val="FFA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48272" y="52212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50A"/>
                </a:solidFill>
                <a:latin typeface="Calibri"/>
              </a:rPr>
              <a:t>DEPLOYED 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48272" y="5568696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EF2FF"/>
                </a:solidFill>
                <a:latin typeface="Calibri"/>
              </a:rPr>
              <a:t>Render Cloud (Production Live)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784848"/>
            <a:ext cx="12188952" cy="45720"/>
          </a:xfrm>
          <a:prstGeom prst="rect">
            <a:avLst/>
          </a:prstGeom>
          <a:solidFill>
            <a:srgbClr val="F04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0" y="6821424"/>
            <a:ext cx="12188952" cy="45720"/>
          </a:xfrm>
          <a:prstGeom prst="rect">
            <a:avLst/>
          </a:prstGeom>
          <a:solidFill>
            <a:srgbClr val="A7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6858000"/>
            <a:ext cx="12188952" cy="45720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C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058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EF2FF"/>
                </a:solidFill>
                <a:latin typeface="Calibri"/>
              </a:rPr>
              <a:t>April 2026  —  Complete Portal Built from Scratch  (1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229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FC2"/>
                </a:solidFill>
                <a:latin typeface="Calibri"/>
              </a:rPr>
              <a:t>Git Commit: 72334fd  |  Date: April 20, 2026  |  35 files added  |  12,776 lines of code written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81328"/>
            <a:ext cx="5532120" cy="5029200"/>
          </a:xfrm>
          <a:prstGeom prst="rect">
            <a:avLst/>
          </a:prstGeom>
          <a:solidFill>
            <a:srgbClr val="111C35"/>
          </a:solidFill>
          <a:ln w="3810">
            <a:solidFill>
              <a:srgbClr val="1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81328"/>
            <a:ext cx="50292" cy="5029200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81328"/>
            <a:ext cx="5532120" cy="347472"/>
          </a:xfrm>
          <a:prstGeom prst="rect">
            <a:avLst/>
          </a:prstGeom>
          <a:solidFill>
            <a:srgbClr val="08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36192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8BFF"/>
                </a:solidFill>
                <a:latin typeface="Calibri"/>
              </a:rPr>
              <a:t>Backend: Flask Application  (app.py  =  2,817 lines)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83664"/>
            <a:ext cx="53309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7A8FC2"/>
                </a:solidFill>
                <a:latin typeface="Calibri"/>
              </a:rPr>
              <a:t>&gt;&gt;  /dashboard         Admin portal: claim table, date filter, search, status filter, aging view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7A8FC2"/>
                </a:solidFill>
                <a:latin typeface="Calibri"/>
              </a:rPr>
              <a:t>&gt;&gt;  /submit-claim      Multi-product claim form — validates, saves, sends email, pushes to Sheets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7A8FC2"/>
                </a:solidFill>
                <a:latin typeface="Calibri"/>
              </a:rPr>
              <a:t>&gt;&gt;  /update-claim      Updates status, notes, follow-up, workflow steps, dates in DB + Sheets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7A8FC2"/>
                </a:solidFill>
                <a:latin typeface="Calibri"/>
              </a:rPr>
              <a:t>&gt;&gt;  /claim/&lt;id&gt;        JSON API — returns full claim data for modal population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7A8FC2"/>
                </a:solidFill>
                <a:latin typeface="Calibri"/>
              </a:rPr>
              <a:t>&gt;&gt;  /analytics         Returns KPI counts, TAT data, replacement progress for dashboard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7A8FC2"/>
                </a:solidFill>
                <a:latin typeface="Calibri"/>
              </a:rPr>
              <a:t>&gt;&gt;  /customer-care/&lt;osid&gt;   Public page — customers check claim status using OSID number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7A8FC2"/>
                </a:solidFill>
                <a:latin typeface="Calibri"/>
              </a:rPr>
              <a:t>&gt;&gt;  /login  /logout    Session-based auth with role-based access control (RBAC)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7A8FC2"/>
                </a:solidFill>
                <a:latin typeface="Calibri"/>
              </a:rPr>
              <a:t>&gt;&gt;  /forgot-password   Password reset via token sent to registered email (15 min expiry)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7A8FC2"/>
                </a:solidFill>
                <a:latin typeface="Calibri"/>
              </a:rPr>
              <a:t>&gt;&gt;  /submit-claim GET  Renders the claim submission form for admin use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1481328"/>
            <a:ext cx="5879592" cy="2999232"/>
          </a:xfrm>
          <a:prstGeom prst="rect">
            <a:avLst/>
          </a:prstGeom>
          <a:solidFill>
            <a:srgbClr val="111C35"/>
          </a:solidFill>
          <a:ln w="3810">
            <a:solidFill>
              <a:srgbClr val="1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1481328"/>
            <a:ext cx="50292" cy="2999232"/>
          </a:xfrm>
          <a:prstGeom prst="rect">
            <a:avLst/>
          </a:prstGeom>
          <a:solidFill>
            <a:srgbClr val="A7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1481328"/>
            <a:ext cx="5879592" cy="347472"/>
          </a:xfrm>
          <a:prstGeom prst="rect">
            <a:avLst/>
          </a:prstGeom>
          <a:solidFill>
            <a:srgbClr val="08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536192"/>
            <a:ext cx="5696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6AFF"/>
                </a:solidFill>
                <a:latin typeface="Calibri"/>
              </a:rPr>
              <a:t>Frontend: 8 HTML Templates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883664"/>
            <a:ext cx="5678424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7A8FC2"/>
                </a:solidFill>
                <a:latin typeface="Calibri"/>
              </a:rPr>
              <a:t>dashboard.html          1,203 lines  - Full portal dashboard UI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7A8FC2"/>
                </a:solidFill>
                <a:latin typeface="Calibri"/>
              </a:rPr>
              <a:t>analytics.html            639 lines  - Analytics dashboard with KPIs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7A8FC2"/>
                </a:solidFill>
                <a:latin typeface="Calibri"/>
              </a:rPr>
              <a:t>claim_status.html         538 lines  - Public customer status page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7A8FC2"/>
                </a:solidFill>
                <a:latin typeface="Calibri"/>
              </a:rPr>
              <a:t>reports_tools.html        656 lines  - Reports &amp; tools section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7A8FC2"/>
                </a:solidFill>
                <a:latin typeface="Calibri"/>
              </a:rPr>
              <a:t>submit.html               173 lines  - Claim submission form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7A8FC2"/>
                </a:solidFill>
                <a:latin typeface="Calibri"/>
              </a:rPr>
              <a:t>workflow_enhanced.html    323 lines  - Replacement workflow section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7A8FC2"/>
                </a:solidFill>
                <a:latin typeface="Calibri"/>
              </a:rPr>
              <a:t>claim_detail.html         133 lines  - Claim detail popup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7A8FC2"/>
                </a:solidFill>
                <a:latin typeface="Calibri"/>
              </a:rPr>
              <a:t>login.html                280 lines  - Login + forgot password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4617720"/>
            <a:ext cx="5879592" cy="1892807"/>
          </a:xfrm>
          <a:prstGeom prst="rect">
            <a:avLst/>
          </a:prstGeom>
          <a:solidFill>
            <a:srgbClr val="111C35"/>
          </a:solidFill>
          <a:ln w="3810">
            <a:solidFill>
              <a:srgbClr val="1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4617720"/>
            <a:ext cx="50292" cy="1892807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89320" y="4617720"/>
            <a:ext cx="5879592" cy="347472"/>
          </a:xfrm>
          <a:prstGeom prst="rect">
            <a:avLst/>
          </a:prstGeom>
          <a:solidFill>
            <a:srgbClr val="08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4672583"/>
            <a:ext cx="5696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JavaScript: 3 Modules  (2,438 lines total)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5020056"/>
            <a:ext cx="5678424" cy="143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7A8FC2"/>
                </a:solidFill>
                <a:latin typeface="Calibri"/>
              </a:rPr>
              <a:t>analytics.js    1,203 lines - Charts, workflow modal, TAT calc, KPI logic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7A8FC2"/>
                </a:solidFill>
                <a:latin typeface="Calibri"/>
              </a:rPr>
              <a:t>script.js         751 lines - Edit modal, status update, follow-up, tabs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7A8FC2"/>
                </a:solidFill>
                <a:latin typeface="Calibri"/>
              </a:rPr>
              <a:t>script_v2.js      484 lines - Enhanced UX, claim detail interactions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5961888"/>
            <a:ext cx="12188952" cy="896112"/>
          </a:xfrm>
          <a:prstGeom prst="rect">
            <a:avLst/>
          </a:prstGeom>
          <a:solidFill>
            <a:srgbClr val="0C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961888"/>
            <a:ext cx="12188952" cy="36576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0" y="6035040"/>
            <a:ext cx="24377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8BFF"/>
                </a:solidFill>
                <a:latin typeface="Calibri"/>
              </a:rPr>
              <a:t>35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6492240"/>
            <a:ext cx="243779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8FC2"/>
                </a:solidFill>
                <a:latin typeface="Calibri"/>
              </a:rPr>
              <a:t>Files Created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37790" y="6035040"/>
            <a:ext cx="24377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8BFF"/>
                </a:solidFill>
                <a:latin typeface="Calibri"/>
              </a:rPr>
              <a:t>12,776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37790" y="6492240"/>
            <a:ext cx="243779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8FC2"/>
                </a:solidFill>
                <a:latin typeface="Calibri"/>
              </a:rPr>
              <a:t>Lines of 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5580" y="6035040"/>
            <a:ext cx="24377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8BFF"/>
                </a:solidFill>
                <a:latin typeface="Calibri"/>
              </a:rPr>
              <a:t>2,817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5580" y="6492240"/>
            <a:ext cx="243779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8FC2"/>
                </a:solidFill>
                <a:latin typeface="Calibri"/>
              </a:rPr>
              <a:t>app.py Lines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3371" y="6035040"/>
            <a:ext cx="24377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8BFF"/>
                </a:solidFill>
                <a:latin typeface="Calibri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3371" y="6492240"/>
            <a:ext cx="243779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8FC2"/>
                </a:solidFill>
                <a:latin typeface="Calibri"/>
              </a:rPr>
              <a:t>HTML Templates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51161" y="6035040"/>
            <a:ext cx="24377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8BFF"/>
                </a:solidFill>
                <a:latin typeface="Calibri"/>
              </a:rPr>
              <a:t>2,438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1161" y="6492240"/>
            <a:ext cx="243779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8FC2"/>
                </a:solidFill>
                <a:latin typeface="Calibri"/>
              </a:rPr>
              <a:t>JS Lines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C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058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EF2FF"/>
                </a:solidFill>
                <a:latin typeface="Calibri"/>
              </a:rPr>
              <a:t>April 2026  —  Complete Portal Built from Scratch  (2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229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FC2"/>
                </a:solidFill>
                <a:latin typeface="Calibri"/>
              </a:rPr>
              <a:t>CSS Design System  |  Google Sheets Integration  |  Reference Data  |  Production Deployment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81328"/>
            <a:ext cx="5532120" cy="2743200"/>
          </a:xfrm>
          <a:prstGeom prst="rect">
            <a:avLst/>
          </a:prstGeom>
          <a:solidFill>
            <a:srgbClr val="111C35"/>
          </a:solidFill>
          <a:ln w="3810">
            <a:solidFill>
              <a:srgbClr val="1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81328"/>
            <a:ext cx="50292" cy="2743200"/>
          </a:xfrm>
          <a:prstGeom prst="rect">
            <a:avLst/>
          </a:prstGeom>
          <a:solidFill>
            <a:srgbClr val="FFA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81328"/>
            <a:ext cx="5532120" cy="347472"/>
          </a:xfrm>
          <a:prstGeom prst="rect">
            <a:avLst/>
          </a:prstGeom>
          <a:solidFill>
            <a:srgbClr val="08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36192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A"/>
                </a:solidFill>
                <a:latin typeface="Calibri"/>
              </a:rPr>
              <a:t>CSS Design System: 5 Files  (2,725 lines total)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83664"/>
            <a:ext cx="53309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7A8FC2"/>
                </a:solidFill>
                <a:latin typeface="Calibri"/>
              </a:rPr>
              <a:t>style.css                 1,210 lines  - Full portal design: layout, tables, cards, modals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7A8FC2"/>
                </a:solidFill>
                <a:latin typeface="Calibri"/>
              </a:rPr>
              <a:t>analytics.css               624 lines  - Analytics dashboard + chart styling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7A8FC2"/>
                </a:solidFill>
                <a:latin typeface="Calibri"/>
              </a:rPr>
              <a:t>claim_status.css            559 lines  - Customer-facing status page styling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7A8FC2"/>
                </a:solidFill>
                <a:latin typeface="Calibri"/>
              </a:rPr>
              <a:t>workflow_enhanced.css       321 lines  - Replacement workflow UI components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7A8FC2"/>
                </a:solidFill>
                <a:latin typeface="Calibri"/>
              </a:rPr>
              <a:t>grid.css                     11 lines  - Grid layout utility classes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343400"/>
            <a:ext cx="5532120" cy="2167128"/>
          </a:xfrm>
          <a:prstGeom prst="rect">
            <a:avLst/>
          </a:prstGeom>
          <a:solidFill>
            <a:srgbClr val="111C35"/>
          </a:solidFill>
          <a:ln w="3810">
            <a:solidFill>
              <a:srgbClr val="1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343400"/>
            <a:ext cx="50292" cy="2167128"/>
          </a:xfrm>
          <a:prstGeom prst="rect">
            <a:avLst/>
          </a:prstGeom>
          <a:solidFill>
            <a:srgbClr val="0D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4343400"/>
            <a:ext cx="5532120" cy="347472"/>
          </a:xfrm>
          <a:prstGeom prst="rect">
            <a:avLst/>
          </a:prstGeom>
          <a:solidFill>
            <a:srgbClr val="08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398264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C88A"/>
                </a:solidFill>
                <a:latin typeface="Calibri"/>
              </a:rPr>
              <a:t>Google Sheets Integration &amp; Reference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45736"/>
            <a:ext cx="5330952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7A8FC2"/>
                </a:solidFill>
                <a:latin typeface="Calibri"/>
              </a:rPr>
              <a:t>google_apps_script.js    274 lines  - Apps Script for bidirectional Sheet sync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7A8FC2"/>
                </a:solidFill>
                <a:latin typeface="Calibri"/>
              </a:rPr>
              <a:t>Onsitego OSID Database   15.8 MB    - Full OSID data file (updated Jan 2026)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7A8FC2"/>
                </a:solidFill>
                <a:latin typeface="Calibri"/>
              </a:rPr>
              <a:t>Future Store List.xlsx              - Store classification (future / existing)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7A8FC2"/>
                </a:solidFill>
                <a:latin typeface="Calibri"/>
              </a:rPr>
              <a:t>RBM, BDM, Branch.xlsx              - Region / Branch / Manager mapping data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7A8FC2"/>
                </a:solidFill>
                <a:latin typeface="Calibri"/>
              </a:rPr>
              <a:t>myG All Store.xlsx                  - Complete store master list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7A8FC2"/>
                </a:solidFill>
                <a:latin typeface="Calibri"/>
              </a:rPr>
              <a:t>build_cache.py            84 lines  - Data caching utility for faster loads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7A8FC2"/>
                </a:solidFill>
                <a:latin typeface="Calibri"/>
              </a:rPr>
              <a:t>perf_utils.py             66 lines  - Performance optimization helpers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7A8FC2"/>
                </a:solidFill>
                <a:latin typeface="Calibri"/>
              </a:rPr>
              <a:t>get_4_data.py             45 lines  - Data fetch helper functions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1481328"/>
            <a:ext cx="5879592" cy="2286000"/>
          </a:xfrm>
          <a:prstGeom prst="rect">
            <a:avLst/>
          </a:prstGeom>
          <a:solidFill>
            <a:srgbClr val="111C35"/>
          </a:solidFill>
          <a:ln w="3810">
            <a:solidFill>
              <a:srgbClr val="1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1481328"/>
            <a:ext cx="50292" cy="2286000"/>
          </a:xfrm>
          <a:prstGeom prst="rect">
            <a:avLst/>
          </a:prstGeom>
          <a:solidFill>
            <a:srgbClr val="F04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89320" y="1481328"/>
            <a:ext cx="5879592" cy="347472"/>
          </a:xfrm>
          <a:prstGeom prst="rect">
            <a:avLst/>
          </a:prstGeom>
          <a:solidFill>
            <a:srgbClr val="08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536192"/>
            <a:ext cx="5696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4A9D"/>
                </a:solidFill>
                <a:latin typeface="Calibri"/>
              </a:rPr>
              <a:t>Email Notification System (Gmail SMTP)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1883664"/>
            <a:ext cx="567842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7A8FC2"/>
                </a:solidFill>
                <a:latin typeface="Calibri"/>
              </a:rPr>
              <a:t>Automated HTML email sent on every new claim submission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7A8FC2"/>
                </a:solidFill>
                <a:latin typeface="Calibri"/>
              </a:rPr>
              <a:t>Email includes: Customer info, product model, OSID, issue details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7A8FC2"/>
                </a:solidFill>
                <a:latin typeface="Calibri"/>
              </a:rPr>
              <a:t>Supports file attachments (customer invoices / product photos)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7A8FC2"/>
                </a:solidFill>
                <a:latin typeface="Calibri"/>
              </a:rPr>
              <a:t>Configurable CC list via environment variable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7A8FC2"/>
                </a:solidFill>
                <a:latin typeface="Calibri"/>
              </a:rPr>
              <a:t>Sender credentials secured via env vars (not hardcoded)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3913632"/>
            <a:ext cx="5879592" cy="2596896"/>
          </a:xfrm>
          <a:prstGeom prst="rect">
            <a:avLst/>
          </a:prstGeom>
          <a:solidFill>
            <a:srgbClr val="111C35"/>
          </a:solidFill>
          <a:ln w="3810">
            <a:solidFill>
              <a:srgbClr val="1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89320" y="3913632"/>
            <a:ext cx="50292" cy="259689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89320" y="3913632"/>
            <a:ext cx="5879592" cy="347472"/>
          </a:xfrm>
          <a:prstGeom prst="rect">
            <a:avLst/>
          </a:prstGeom>
          <a:solidFill>
            <a:srgbClr val="08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3968496"/>
            <a:ext cx="5696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Production Deployment  (Render Cloud)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315968"/>
            <a:ext cx="5678424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7A8FC2"/>
                </a:solidFill>
                <a:latin typeface="Calibri"/>
              </a:rPr>
              <a:t>Procfile        - Gunicorn WSGI server configuration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7A8FC2"/>
                </a:solidFill>
                <a:latin typeface="Calibri"/>
              </a:rPr>
              <a:t>render.yaml     - Cloud environment + build commands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7A8FC2"/>
                </a:solidFill>
                <a:latin typeface="Calibri"/>
              </a:rPr>
              <a:t>runtime.txt     - Python version (3.12) pinned for consistency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7A8FC2"/>
                </a:solidFill>
                <a:latin typeface="Calibri"/>
              </a:rPr>
              <a:t>requirements.txt  - 8 dependencies declared (Flask, psycopg2, gspread...)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7A8FC2"/>
                </a:solidFill>
                <a:latin typeface="Calibri"/>
              </a:rPr>
              <a:t>.gitignore      - 15 exclusion patterns (secrets, uploads, cache)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7A8FC2"/>
                </a:solidFill>
                <a:latin typeface="Calibri"/>
              </a:rPr>
              <a:t>PostgreSQL DB   - Provisioned on Render with DATABASE_URL env var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7A8FC2"/>
                </a:solidFill>
                <a:latin typeface="Calibri"/>
              </a:rPr>
              <a:t>Environment vars: DB_URL, SMTP creds, Sheet ID, WEB_APP_URL, etc.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5961888"/>
            <a:ext cx="12188952" cy="896112"/>
          </a:xfrm>
          <a:prstGeom prst="rect">
            <a:avLst/>
          </a:prstGeom>
          <a:solidFill>
            <a:srgbClr val="0C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61888"/>
            <a:ext cx="12188952" cy="36576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0" y="6035040"/>
            <a:ext cx="24377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8B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0" y="6492240"/>
            <a:ext cx="243779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8FC2"/>
                </a:solidFill>
                <a:latin typeface="Calibri"/>
              </a:rPr>
              <a:t>CSS Files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37790" y="6035040"/>
            <a:ext cx="24377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8BFF"/>
                </a:solidFill>
                <a:latin typeface="Calibri"/>
              </a:rPr>
              <a:t>2,725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37790" y="6492240"/>
            <a:ext cx="243779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8FC2"/>
                </a:solidFill>
                <a:latin typeface="Calibri"/>
              </a:rPr>
              <a:t>CSS Lines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75580" y="6035040"/>
            <a:ext cx="24377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8BFF"/>
                </a:solidFill>
                <a:latin typeface="Calibri"/>
              </a:rPr>
              <a:t>274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5580" y="6492240"/>
            <a:ext cx="243779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8FC2"/>
                </a:solidFill>
                <a:latin typeface="Calibri"/>
              </a:rPr>
              <a:t>Google Script Lines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3371" y="6035040"/>
            <a:ext cx="24377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8BFF"/>
                </a:solidFill>
                <a:latin typeface="Calibri"/>
              </a:rPr>
              <a:t>15.8 MB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3371" y="6492240"/>
            <a:ext cx="243779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8FC2"/>
                </a:solidFill>
                <a:latin typeface="Calibri"/>
              </a:rPr>
              <a:t>OSID Reference 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51161" y="6035040"/>
            <a:ext cx="24377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8BFF"/>
                </a:solidFill>
                <a:latin typeface="Calibri"/>
              </a:rPr>
              <a:t>Live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51161" y="6492240"/>
            <a:ext cx="243779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8FC2"/>
                </a:solidFill>
                <a:latin typeface="Calibri"/>
              </a:rPr>
              <a:t>on Render Cloud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C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A7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058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EF2FF"/>
                </a:solidFill>
                <a:latin typeface="Calibri"/>
              </a:rPr>
              <a:t>May 2026  —  Feature Enhancements &amp; Data Refresh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229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FC2"/>
                </a:solidFill>
                <a:latin typeface="Calibri"/>
              </a:rPr>
              <a:t>6 Commits between May 2 and May 26, 2026  |  2 Feature Updates  |  4 Data Files Refreshed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81328"/>
            <a:ext cx="5669280" cy="4315968"/>
          </a:xfrm>
          <a:prstGeom prst="rect">
            <a:avLst/>
          </a:prstGeom>
          <a:solidFill>
            <a:srgbClr val="111C35"/>
          </a:solidFill>
          <a:ln w="3810">
            <a:solidFill>
              <a:srgbClr val="1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81328"/>
            <a:ext cx="50292" cy="4315968"/>
          </a:xfrm>
          <a:prstGeom prst="rect">
            <a:avLst/>
          </a:prstGeom>
          <a:solidFill>
            <a:srgbClr val="A7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81328"/>
            <a:ext cx="5669280" cy="347472"/>
          </a:xfrm>
          <a:prstGeom prst="rect">
            <a:avLst/>
          </a:prstGeom>
          <a:solidFill>
            <a:srgbClr val="08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361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A76AFF"/>
                </a:solidFill>
                <a:latin typeface="Calibri"/>
              </a:rPr>
              <a:t>May 2, 2026 - Commit b0d1578: Added 'Cancelled' Status End-to-End  (5 files)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83664"/>
            <a:ext cx="5468112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7A8FC2"/>
                </a:solidFill>
                <a:latin typeface="Calibri"/>
              </a:rPr>
              <a:t>app.py          Added 'Cancelled' to the ALLOWED_STATUSES whitelist (backend validation)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7A8FC2"/>
                </a:solidFill>
                <a:latin typeface="Calibri"/>
              </a:rPr>
              <a:t>dashboard.html  Added 'Cancelled' as option in Edit Claim status dropdown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7A8FC2"/>
                </a:solidFill>
                <a:latin typeface="Calibri"/>
              </a:rPr>
              <a:t>analytics.html  Added 'Cancelled' KPI card to the analytics dashboard header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7A8FC2"/>
                </a:solidFill>
                <a:latin typeface="Calibri"/>
              </a:rPr>
              <a:t>analytics.js    Added Cancelled count query + chart segment + colour code logic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7A8FC2"/>
                </a:solidFill>
                <a:latin typeface="Calibri"/>
              </a:rPr>
              <a:t>script.js       Added 'Cancelled' to client-side status filter + CSS class mapping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7A8FC2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7A8FC2"/>
                </a:solidFill>
                <a:latin typeface="Calibri"/>
              </a:rPr>
              <a:t>Result: Staff can now officially mark any claim as Cancelled across all portal sections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7A8FC2"/>
                </a:solidFill>
                <a:latin typeface="Calibri"/>
              </a:rPr>
              <a:t>Impact: Analytics now shows Cancelled count in real time alongside other statuses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481328"/>
            <a:ext cx="5788152" cy="2743200"/>
          </a:xfrm>
          <a:prstGeom prst="rect">
            <a:avLst/>
          </a:prstGeom>
          <a:solidFill>
            <a:srgbClr val="111C35"/>
          </a:solidFill>
          <a:ln w="3810">
            <a:solidFill>
              <a:srgbClr val="1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60" y="1481328"/>
            <a:ext cx="50292" cy="2743200"/>
          </a:xfrm>
          <a:prstGeom prst="rect">
            <a:avLst/>
          </a:prstGeom>
          <a:solidFill>
            <a:srgbClr val="FFA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481328"/>
            <a:ext cx="5788152" cy="347472"/>
          </a:xfrm>
          <a:prstGeom prst="rect">
            <a:avLst/>
          </a:prstGeom>
          <a:solidFill>
            <a:srgbClr val="08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536192"/>
            <a:ext cx="5605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A50A"/>
                </a:solidFill>
                <a:latin typeface="Calibri"/>
              </a:rPr>
              <a:t>May 4, 2026 - Commit 0d7a0d7: Dashboard Aging Bucket Fix  (2 files, 90 lines)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883664"/>
            <a:ext cx="558698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7A8FC2"/>
                </a:solidFill>
                <a:latin typeface="Calibri"/>
              </a:rPr>
              <a:t>app.py          Rewrote aging algorithm (59 lines changed)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7A8FC2"/>
                </a:solidFill>
                <a:latin typeface="Calibri"/>
              </a:rPr>
              <a:t>                Fixed: 0-7 days / 8-15 days / 16-30 days / 30+ days groupings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7A8FC2"/>
                </a:solidFill>
                <a:latin typeface="Calibri"/>
              </a:rPr>
              <a:t>                Corrected TAT (Turn Around Time) calculation edge cases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7A8FC2"/>
                </a:solidFill>
                <a:latin typeface="Calibri"/>
              </a:rPr>
              <a:t>dashboard.html  Removed hardcoded merge cell structure (15 lines fixed)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7A8FC2"/>
                </a:solidFill>
                <a:latin typeface="Calibri"/>
              </a:rPr>
              <a:t>                Dashboard table now matches the original Excel report design exactly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7A8FC2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7A8FC2"/>
                </a:solidFill>
                <a:latin typeface="Calibri"/>
              </a:rPr>
              <a:t>Why it mattered: Manager review relies on correct aging buckets for SLA tracking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4343400"/>
            <a:ext cx="5788152" cy="2167128"/>
          </a:xfrm>
          <a:prstGeom prst="rect">
            <a:avLst/>
          </a:prstGeom>
          <a:solidFill>
            <a:srgbClr val="111C35"/>
          </a:solidFill>
          <a:ln w="3810">
            <a:solidFill>
              <a:srgbClr val="1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60" y="4343400"/>
            <a:ext cx="50292" cy="2167128"/>
          </a:xfrm>
          <a:prstGeom prst="rect">
            <a:avLst/>
          </a:prstGeom>
          <a:solidFill>
            <a:srgbClr val="0D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0760" y="4343400"/>
            <a:ext cx="5788152" cy="347472"/>
          </a:xfrm>
          <a:prstGeom prst="rect">
            <a:avLst/>
          </a:prstGeom>
          <a:solidFill>
            <a:srgbClr val="08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4398264"/>
            <a:ext cx="5605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C88A"/>
                </a:solidFill>
                <a:latin typeface="Calibri"/>
              </a:rPr>
              <a:t>May Data File Refreshes  (4 commits)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745736"/>
            <a:ext cx="5586984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7A8FC2"/>
                </a:solidFill>
                <a:latin typeface="Calibri"/>
              </a:rPr>
              <a:t>OSID Data File   Updated to Feb 2026 data  (Commit: 268ea6f  |  May 17)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7A8FC2"/>
                </a:solidFill>
                <a:latin typeface="Calibri"/>
              </a:rPr>
              <a:t>EXCEL_FILE ref   Updated to point to Feb 2026 file  (Commit: b43b012  |  May 19)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7A8FC2"/>
                </a:solidFill>
                <a:latin typeface="Calibri"/>
              </a:rPr>
              <a:t>Future Store List.xlsx   New stores added for Q1 2026  (Commit: 55f1138  |  May 22)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7A8FC2"/>
                </a:solidFill>
                <a:latin typeface="Calibri"/>
              </a:rPr>
              <a:t>RBM, BDM, Branch.xlsx   Team mapping updated  (Commit: 55f1138  |  May 22)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7A8FC2"/>
                </a:solidFill>
                <a:latin typeface="Calibri"/>
              </a:rPr>
              <a:t>myG All Store.xlsx       Store master refreshed  (Commit: 55f1138  |  May 22)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7A8FC2"/>
                </a:solidFill>
                <a:latin typeface="Calibri"/>
              </a:rPr>
              <a:t>app.py  Minor config tweaks  (Commit: 48c0815  |  May 26)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5961888"/>
            <a:ext cx="12188952" cy="896112"/>
          </a:xfrm>
          <a:prstGeom prst="rect">
            <a:avLst/>
          </a:prstGeom>
          <a:solidFill>
            <a:srgbClr val="0C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961888"/>
            <a:ext cx="12188952" cy="36576"/>
          </a:xfrm>
          <a:prstGeom prst="rect">
            <a:avLst/>
          </a:prstGeom>
          <a:solidFill>
            <a:srgbClr val="A7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0" y="6035040"/>
            <a:ext cx="24377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76A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6492240"/>
            <a:ext cx="243779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8FC2"/>
                </a:solidFill>
                <a:latin typeface="Calibri"/>
              </a:rPr>
              <a:t>Total Commits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37790" y="6035040"/>
            <a:ext cx="24377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76AFF"/>
                </a:solidFill>
                <a:latin typeface="Calibr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37790" y="6492240"/>
            <a:ext cx="243779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8FC2"/>
                </a:solidFill>
                <a:latin typeface="Calibri"/>
              </a:rPr>
              <a:t>New Status Added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5580" y="6035040"/>
            <a:ext cx="24377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76A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5580" y="6492240"/>
            <a:ext cx="243779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8FC2"/>
                </a:solidFill>
                <a:latin typeface="Calibri"/>
              </a:rPr>
              <a:t>Files for Status Fix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3371" y="6035040"/>
            <a:ext cx="24377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76AFF"/>
                </a:solidFill>
                <a:latin typeface="Calibri"/>
              </a:rPr>
              <a:t>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3371" y="6492240"/>
            <a:ext cx="243779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8FC2"/>
                </a:solidFill>
                <a:latin typeface="Calibri"/>
              </a:rPr>
              <a:t>Lines in Aging Fix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51161" y="6035040"/>
            <a:ext cx="24377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76A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1161" y="6492240"/>
            <a:ext cx="243779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8FC2"/>
                </a:solidFill>
                <a:latin typeface="Calibri"/>
              </a:rPr>
              <a:t>Data Files Refreshed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C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D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058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EF2FF"/>
                </a:solidFill>
                <a:latin typeface="Calibri"/>
              </a:rPr>
              <a:t>June 2026  —  Operations, Monitoring &amp; Live Issue 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229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FC2"/>
                </a:solidFill>
                <a:latin typeface="Calibri"/>
              </a:rPr>
              <a:t>Portal fully in production  |  First live claims managed  |  Early issues identified and tracked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81328"/>
            <a:ext cx="5577840" cy="4315968"/>
          </a:xfrm>
          <a:prstGeom prst="rect">
            <a:avLst/>
          </a:prstGeom>
          <a:solidFill>
            <a:srgbClr val="111C35"/>
          </a:solidFill>
          <a:ln w="3810">
            <a:solidFill>
              <a:srgbClr val="1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81328"/>
            <a:ext cx="50292" cy="4315968"/>
          </a:xfrm>
          <a:prstGeom prst="rect">
            <a:avLst/>
          </a:prstGeom>
          <a:solidFill>
            <a:srgbClr val="0D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81328"/>
            <a:ext cx="5577840" cy="347472"/>
          </a:xfrm>
          <a:prstGeom prst="rect">
            <a:avLst/>
          </a:prstGeom>
          <a:solidFill>
            <a:srgbClr val="08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36192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C88A"/>
                </a:solidFill>
                <a:latin typeface="Calibri"/>
              </a:rPr>
              <a:t>Production Portal 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83664"/>
            <a:ext cx="5376672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7A8FC2"/>
                </a:solidFill>
                <a:latin typeface="Calibri"/>
              </a:rPr>
              <a:t>Monitored live claims being submitted through the portal (real customers)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7A8FC2"/>
                </a:solidFill>
                <a:latin typeface="Calibri"/>
              </a:rPr>
              <a:t>Tracked claim status progression: Submitted -&gt; Registered -&gt; Follow Up -&gt; Resolved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7A8FC2"/>
                </a:solidFill>
                <a:latin typeface="Calibri"/>
              </a:rPr>
              <a:t>Verified Google Sheets sync running every 20 seconds (data consistency checks)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7A8FC2"/>
                </a:solidFill>
                <a:latin typeface="Calibri"/>
              </a:rPr>
              <a:t>Monitored PostgreSQL DB for correct claim data storage and retrieval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7A8FC2"/>
                </a:solidFill>
                <a:latin typeface="Calibri"/>
              </a:rPr>
              <a:t>Checked portal uptime on Render cloud (production server availability)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7A8FC2"/>
                </a:solidFill>
                <a:latin typeface="Calibri"/>
              </a:rPr>
              <a:t>Validated email notification delivery on every new claim submission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7A8FC2"/>
                </a:solidFill>
                <a:latin typeface="Calibri"/>
              </a:rPr>
              <a:t>Tracked Replace Workflow: Customer Confirmation, OSG Approval, Invoice, Settlement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1481328"/>
            <a:ext cx="5879592" cy="2240280"/>
          </a:xfrm>
          <a:prstGeom prst="rect">
            <a:avLst/>
          </a:prstGeom>
          <a:solidFill>
            <a:srgbClr val="111C35"/>
          </a:solidFill>
          <a:ln w="3810">
            <a:solidFill>
              <a:srgbClr val="1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1481328"/>
            <a:ext cx="50292" cy="2240280"/>
          </a:xfrm>
          <a:prstGeom prst="rect">
            <a:avLst/>
          </a:prstGeom>
          <a:solidFill>
            <a:srgbClr val="FFA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1481328"/>
            <a:ext cx="5879592" cy="347472"/>
          </a:xfrm>
          <a:prstGeom prst="rect">
            <a:avLst/>
          </a:prstGeom>
          <a:solidFill>
            <a:srgbClr val="08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536192"/>
            <a:ext cx="5696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A50A"/>
                </a:solidFill>
                <a:latin typeface="Calibri"/>
              </a:rPr>
              <a:t>Staff Onboarding &amp; 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883664"/>
            <a:ext cx="567842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7A8FC2"/>
                </a:solidFill>
                <a:latin typeface="Calibri"/>
              </a:rPr>
              <a:t>Onboarded OSG service store staff to the new portal system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7A8FC2"/>
                </a:solidFill>
                <a:latin typeface="Calibri"/>
              </a:rPr>
              <a:t>Demonstrated claim submission workflow end-to-end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7A8FC2"/>
                </a:solidFill>
                <a:latin typeface="Calibri"/>
              </a:rPr>
              <a:t>Explained claim status update procedure and follow-up notes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7A8FC2"/>
                </a:solidFill>
                <a:latin typeface="Calibri"/>
              </a:rPr>
              <a:t>Trained staff on using OSID lookup to auto-fill invoice/serial data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7A8FC2"/>
                </a:solidFill>
                <a:latin typeface="Calibri"/>
              </a:rPr>
              <a:t>Collected UX feedback: slow workflows, confusing status labels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3858768"/>
            <a:ext cx="5879592" cy="2651760"/>
          </a:xfrm>
          <a:prstGeom prst="rect">
            <a:avLst/>
          </a:prstGeom>
          <a:solidFill>
            <a:srgbClr val="111C35"/>
          </a:solidFill>
          <a:ln w="3810">
            <a:solidFill>
              <a:srgbClr val="1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3858768"/>
            <a:ext cx="50292" cy="265176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89320" y="3858768"/>
            <a:ext cx="5879592" cy="347472"/>
          </a:xfrm>
          <a:prstGeom prst="rect">
            <a:avLst/>
          </a:prstGeom>
          <a:solidFill>
            <a:srgbClr val="08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3913631"/>
            <a:ext cx="5696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5C5C"/>
                </a:solidFill>
                <a:latin typeface="Calibri"/>
              </a:rPr>
              <a:t>Issues Identified in June  (Fixed Later in July)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4261104"/>
            <a:ext cx="5678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7A8FC2"/>
                </a:solidFill>
                <a:latin typeface="Calibri"/>
              </a:rPr>
              <a:t>Sync conflict: Google Sheets sync overwriting portal-set statuses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7A8FC2"/>
                </a:solidFill>
                <a:latin typeface="Calibri"/>
              </a:rPr>
              <a:t>Missing Replacement Approved claims from old Google Sheet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7A8FC2"/>
                </a:solidFill>
                <a:latin typeface="Calibri"/>
              </a:rPr>
              <a:t>Workflow checkboxes not auto-ticking for Replacement Approved claims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7A8FC2"/>
                </a:solidFill>
                <a:latin typeface="Calibri"/>
              </a:rPr>
              <a:t>Old claims being appended to bottom of new Google Sheet on save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7A8FC2"/>
                </a:solidFill>
                <a:latin typeface="Calibri"/>
              </a:rPr>
              <a:t>WhatsApp notifications needed cutoff date to avoid spamming old customers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7A8FC2"/>
                </a:solidFill>
                <a:latin typeface="Calibri"/>
              </a:rPr>
              <a:t>Data identified: Duplicate claim record needed to be split into two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5961888"/>
            <a:ext cx="12188952" cy="896112"/>
          </a:xfrm>
          <a:prstGeom prst="rect">
            <a:avLst/>
          </a:prstGeom>
          <a:solidFill>
            <a:srgbClr val="0C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961888"/>
            <a:ext cx="12188952" cy="36576"/>
          </a:xfrm>
          <a:prstGeom prst="rect">
            <a:avLst/>
          </a:prstGeom>
          <a:solidFill>
            <a:srgbClr val="0D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0" y="6035040"/>
            <a:ext cx="24377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C88A"/>
                </a:solidFill>
                <a:latin typeface="Calibri"/>
              </a:rPr>
              <a:t>567+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6492240"/>
            <a:ext cx="243779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8FC2"/>
                </a:solidFill>
                <a:latin typeface="Calibri"/>
              </a:rPr>
              <a:t>Claims in Portal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37790" y="6035040"/>
            <a:ext cx="24377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C88A"/>
                </a:solidFill>
                <a:latin typeface="Calibri"/>
              </a:rP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37790" y="6492240"/>
            <a:ext cx="243779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8FC2"/>
                </a:solidFill>
                <a:latin typeface="Calibri"/>
              </a:rPr>
              <a:t>Server Uptime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5580" y="6035040"/>
            <a:ext cx="24377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C88A"/>
                </a:solidFill>
                <a:latin typeface="Calibri"/>
              </a:rPr>
              <a:t>20 sec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5580" y="6492240"/>
            <a:ext cx="243779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8FC2"/>
                </a:solidFill>
                <a:latin typeface="Calibri"/>
              </a:rPr>
              <a:t>Sync Interval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3371" y="6035040"/>
            <a:ext cx="24377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C88A"/>
                </a:solidFill>
                <a:latin typeface="Calibri"/>
              </a:rPr>
              <a:t>4+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3371" y="6492240"/>
            <a:ext cx="243779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8FC2"/>
                </a:solidFill>
                <a:latin typeface="Calibri"/>
              </a:rPr>
              <a:t>Issues Identified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51161" y="6035040"/>
            <a:ext cx="24377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C88A"/>
                </a:solidFill>
                <a:latin typeface="Calibri"/>
              </a:rPr>
              <a:t>Staff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1161" y="6492240"/>
            <a:ext cx="243779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8FC2"/>
                </a:solidFill>
                <a:latin typeface="Calibri"/>
              </a:rPr>
              <a:t>Onboarded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C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04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058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EF2FF"/>
                </a:solidFill>
                <a:latin typeface="Calibri"/>
              </a:rPr>
              <a:t>Key Challenges Faced  —  Q2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229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FC2"/>
                </a:solidFill>
                <a:latin typeface="Calibri"/>
              </a:rPr>
              <a:t>Technical and operational challenges during April-June 2026 development cycle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81328"/>
            <a:ext cx="5742432" cy="2359152"/>
          </a:xfrm>
          <a:prstGeom prst="rect">
            <a:avLst/>
          </a:prstGeom>
          <a:solidFill>
            <a:srgbClr val="111C35"/>
          </a:solidFill>
          <a:ln w="3810">
            <a:solidFill>
              <a:srgbClr val="1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81328"/>
            <a:ext cx="5742432" cy="43891"/>
          </a:xfrm>
          <a:prstGeom prst="rect">
            <a:avLst/>
          </a:prstGeom>
          <a:solidFill>
            <a:srgbClr val="F04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4A9D"/>
                </a:solidFill>
                <a:latin typeface="Calibri"/>
              </a:rPr>
              <a:t>Building Full-Stack Portal Alone in April (Single Sprint)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20824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5C5C"/>
                </a:solidFill>
                <a:latin typeface="Calibri"/>
              </a:rPr>
              <a:t>Problem: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020824"/>
            <a:ext cx="4663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7A8FC2"/>
                </a:solidFill>
                <a:latin typeface="Calibri"/>
              </a:rPr>
              <a:t>Had to design DB schema, backend API, frontend UI, Google Sheets integration, email system and cloud deployment all simultaneously. No existing codebase to start from.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43200"/>
            <a:ext cx="5440680" cy="22860"/>
          </a:xfrm>
          <a:prstGeom prst="rect">
            <a:avLst/>
          </a:prstGeom>
          <a:solidFill>
            <a:srgbClr val="1A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43784"/>
            <a:ext cx="960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C88A"/>
                </a:solidFill>
                <a:latin typeface="Calibri"/>
              </a:rPr>
              <a:t>Resolution: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2843784"/>
            <a:ext cx="45262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EEF2FF"/>
                </a:solidFill>
                <a:latin typeface="Calibri"/>
              </a:rPr>
              <a:t>Delivered complete working portal by April 20 — 35 files, 12,776 lines, fully deployed to Render production with PostgreSQL, Gmail SMTP, Google Sheets API all live.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81328"/>
            <a:ext cx="5742432" cy="2359152"/>
          </a:xfrm>
          <a:prstGeom prst="rect">
            <a:avLst/>
          </a:prstGeom>
          <a:solidFill>
            <a:srgbClr val="111C35"/>
          </a:solidFill>
          <a:ln w="3810">
            <a:solidFill>
              <a:srgbClr val="1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481328"/>
            <a:ext cx="5742432" cy="43891"/>
          </a:xfrm>
          <a:prstGeom prst="rect">
            <a:avLst/>
          </a:prstGeom>
          <a:solidFill>
            <a:srgbClr val="FFA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57276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A"/>
                </a:solidFill>
                <a:latin typeface="Calibri"/>
              </a:rPr>
              <a:t>Migrating 500+ Legacy Claims from Google Sheets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20824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5C5C"/>
                </a:solidFill>
                <a:latin typeface="Calibri"/>
              </a:rPr>
              <a:t>Problem: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59" y="2020824"/>
            <a:ext cx="4663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7A8FC2"/>
                </a:solidFill>
                <a:latin typeface="Calibri"/>
              </a:rPr>
              <a:t>Old Google Sheets had inconsistent column names, missing fields, mixed date formats and duplicate entries across hundreds of rows. Could not import directly.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743200"/>
            <a:ext cx="5440680" cy="22860"/>
          </a:xfrm>
          <a:prstGeom prst="rect">
            <a:avLst/>
          </a:prstGeom>
          <a:solidFill>
            <a:srgbClr val="1A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843784"/>
            <a:ext cx="960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C88A"/>
                </a:solidFill>
                <a:latin typeface="Calibri"/>
              </a:rPr>
              <a:t>Resolution: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19" y="2843784"/>
            <a:ext cx="45262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EEF2FF"/>
                </a:solidFill>
                <a:latin typeface="Calibri"/>
              </a:rPr>
              <a:t>Built ClaimWrapper adapter class mapping old Sheet column headers to new DB schema. Wrote normalisation logic to handle all format variations during import.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950208"/>
            <a:ext cx="5742432" cy="2359152"/>
          </a:xfrm>
          <a:prstGeom prst="rect">
            <a:avLst/>
          </a:prstGeom>
          <a:solidFill>
            <a:srgbClr val="111C35"/>
          </a:solidFill>
          <a:ln w="3810">
            <a:solidFill>
              <a:srgbClr val="1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950208"/>
            <a:ext cx="5742432" cy="43891"/>
          </a:xfrm>
          <a:prstGeom prst="rect">
            <a:avLst/>
          </a:prstGeom>
          <a:solidFill>
            <a:srgbClr val="A7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04164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6AFF"/>
                </a:solidFill>
                <a:latin typeface="Calibri"/>
              </a:rPr>
              <a:t>Dashboard Aging Buckets Not Matching Original Design  (May 4)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489704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5C5C"/>
                </a:solidFill>
                <a:latin typeface="Calibri"/>
              </a:rPr>
              <a:t>Problem: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489704"/>
            <a:ext cx="4663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7A8FC2"/>
                </a:solidFill>
                <a:latin typeface="Calibri"/>
              </a:rPr>
              <a:t>The aging bucket report (0-7d / 8-15d / 16-30d / 30+d) was calculating incorrectly. The table layout also didn't match the original Excel merge-cell design managers expected.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212080"/>
            <a:ext cx="5440680" cy="22860"/>
          </a:xfrm>
          <a:prstGeom prst="rect">
            <a:avLst/>
          </a:prstGeom>
          <a:solidFill>
            <a:srgbClr val="1A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312664"/>
            <a:ext cx="960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C88A"/>
                </a:solidFill>
                <a:latin typeface="Calibri"/>
              </a:rPr>
              <a:t>Resolution: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19" y="5312664"/>
            <a:ext cx="45262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EEF2FF"/>
                </a:solidFill>
                <a:latin typeface="Calibri"/>
              </a:rPr>
              <a:t>Rewrote aging algorithm in app.py (59 lines changed) and fixed dashboard.html structure. Final output now exactly matches original Excel report design specifications.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950208"/>
            <a:ext cx="5742432" cy="2359152"/>
          </a:xfrm>
          <a:prstGeom prst="rect">
            <a:avLst/>
          </a:prstGeom>
          <a:solidFill>
            <a:srgbClr val="111C35"/>
          </a:solidFill>
          <a:ln w="3810">
            <a:solidFill>
              <a:srgbClr val="1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3950208"/>
            <a:ext cx="5742432" cy="43891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04164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5C5C"/>
                </a:solidFill>
                <a:latin typeface="Calibri"/>
              </a:rPr>
              <a:t>Google Sheets Sync Overwriting Portal Statuses  (Identified June)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489704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5C5C"/>
                </a:solidFill>
                <a:latin typeface="Calibri"/>
              </a:rPr>
              <a:t>Problem: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59" y="4489704"/>
            <a:ext cx="4663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7A8FC2"/>
                </a:solidFill>
                <a:latin typeface="Calibri"/>
              </a:rPr>
              <a:t>Every 20-second sync cycle was overwriting manually-set portal statuses (Replacement Approved, Repair Completed etc.) back to earlier values, silently reverting work done by staff.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5212080"/>
            <a:ext cx="5440680" cy="22860"/>
          </a:xfrm>
          <a:prstGeom prst="rect">
            <a:avLst/>
          </a:prstGeom>
          <a:solidFill>
            <a:srgbClr val="1A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5312664"/>
            <a:ext cx="960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C88A"/>
                </a:solidFill>
                <a:latin typeface="Calibri"/>
              </a:rPr>
              <a:t>Resolution: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19" y="5312664"/>
            <a:ext cx="45262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EEF2FF"/>
                </a:solidFill>
                <a:latin typeface="Calibri"/>
              </a:rPr>
              <a:t>Identified root cause in June during monitoring. Documented for fix. Resolved in July by adding PROTECTED_STATUSES logic in pg_sync.py to preserve all terminal statuses.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F04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" cy="6858000"/>
          </a:xfrm>
          <a:prstGeom prst="rect">
            <a:avLst/>
          </a:prstGeom>
          <a:solidFill>
            <a:srgbClr val="0E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0"/>
            <a:ext cx="22860" cy="6858000"/>
          </a:xfrm>
          <a:prstGeom prst="rect">
            <a:avLst/>
          </a:prstGeom>
          <a:solidFill>
            <a:srgbClr val="0E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33856" y="0"/>
            <a:ext cx="22860" cy="6858000"/>
          </a:xfrm>
          <a:prstGeom prst="rect">
            <a:avLst/>
          </a:prstGeom>
          <a:solidFill>
            <a:srgbClr val="0E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00784" y="0"/>
            <a:ext cx="22860" cy="6858000"/>
          </a:xfrm>
          <a:prstGeom prst="rect">
            <a:avLst/>
          </a:prstGeom>
          <a:solidFill>
            <a:srgbClr val="0E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67712" y="0"/>
            <a:ext cx="22860" cy="6858000"/>
          </a:xfrm>
          <a:prstGeom prst="rect">
            <a:avLst/>
          </a:prstGeom>
          <a:solidFill>
            <a:srgbClr val="0E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34640" y="0"/>
            <a:ext cx="22860" cy="6858000"/>
          </a:xfrm>
          <a:prstGeom prst="rect">
            <a:avLst/>
          </a:prstGeom>
          <a:solidFill>
            <a:srgbClr val="0E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01568" y="0"/>
            <a:ext cx="22860" cy="6858000"/>
          </a:xfrm>
          <a:prstGeom prst="rect">
            <a:avLst/>
          </a:prstGeom>
          <a:solidFill>
            <a:srgbClr val="0E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68496" y="0"/>
            <a:ext cx="22860" cy="6858000"/>
          </a:xfrm>
          <a:prstGeom prst="rect">
            <a:avLst/>
          </a:prstGeom>
          <a:solidFill>
            <a:srgbClr val="0E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35424" y="0"/>
            <a:ext cx="22860" cy="6858000"/>
          </a:xfrm>
          <a:prstGeom prst="rect">
            <a:avLst/>
          </a:prstGeom>
          <a:solidFill>
            <a:srgbClr val="0E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02352" y="0"/>
            <a:ext cx="22860" cy="6858000"/>
          </a:xfrm>
          <a:prstGeom prst="rect">
            <a:avLst/>
          </a:prstGeom>
          <a:solidFill>
            <a:srgbClr val="0E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0" y="0"/>
            <a:ext cx="22860" cy="6858000"/>
          </a:xfrm>
          <a:prstGeom prst="rect">
            <a:avLst/>
          </a:prstGeom>
          <a:solidFill>
            <a:srgbClr val="0E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8" y="0"/>
            <a:ext cx="22860" cy="6858000"/>
          </a:xfrm>
          <a:prstGeom prst="rect">
            <a:avLst/>
          </a:prstGeom>
          <a:solidFill>
            <a:srgbClr val="0E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03136" y="0"/>
            <a:ext cx="22860" cy="6858000"/>
          </a:xfrm>
          <a:prstGeom prst="rect">
            <a:avLst/>
          </a:prstGeom>
          <a:solidFill>
            <a:srgbClr val="0E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70064" y="0"/>
            <a:ext cx="22860" cy="6858000"/>
          </a:xfrm>
          <a:prstGeom prst="rect">
            <a:avLst/>
          </a:prstGeom>
          <a:solidFill>
            <a:srgbClr val="0E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36992" y="0"/>
            <a:ext cx="22860" cy="6858000"/>
          </a:xfrm>
          <a:prstGeom prst="rect">
            <a:avLst/>
          </a:prstGeom>
          <a:solidFill>
            <a:srgbClr val="0E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03920" y="0"/>
            <a:ext cx="22860" cy="6858000"/>
          </a:xfrm>
          <a:prstGeom prst="rect">
            <a:avLst/>
          </a:prstGeom>
          <a:solidFill>
            <a:srgbClr val="0E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70848" y="0"/>
            <a:ext cx="22860" cy="6858000"/>
          </a:xfrm>
          <a:prstGeom prst="rect">
            <a:avLst/>
          </a:prstGeom>
          <a:solidFill>
            <a:srgbClr val="0E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37776" y="0"/>
            <a:ext cx="22860" cy="6858000"/>
          </a:xfrm>
          <a:prstGeom prst="rect">
            <a:avLst/>
          </a:prstGeom>
          <a:solidFill>
            <a:srgbClr val="0E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204704" y="0"/>
            <a:ext cx="22860" cy="6858000"/>
          </a:xfrm>
          <a:prstGeom prst="rect">
            <a:avLst/>
          </a:prstGeom>
          <a:solidFill>
            <a:srgbClr val="0E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71632" y="0"/>
            <a:ext cx="22860" cy="6858000"/>
          </a:xfrm>
          <a:prstGeom prst="rect">
            <a:avLst/>
          </a:prstGeom>
          <a:solidFill>
            <a:srgbClr val="0E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338560" y="0"/>
            <a:ext cx="22860" cy="6858000"/>
          </a:xfrm>
          <a:prstGeom prst="rect">
            <a:avLst/>
          </a:prstGeom>
          <a:solidFill>
            <a:srgbClr val="0E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905488" y="0"/>
            <a:ext cx="22860" cy="6858000"/>
          </a:xfrm>
          <a:prstGeom prst="rect">
            <a:avLst/>
          </a:prstGeom>
          <a:solidFill>
            <a:srgbClr val="0E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"/>
            <a:ext cx="12188952" cy="50292"/>
          </a:xfrm>
          <a:prstGeom prst="rect">
            <a:avLst/>
          </a:prstGeom>
          <a:solidFill>
            <a:srgbClr val="A7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109728"/>
            <a:ext cx="12188952" cy="50292"/>
          </a:xfrm>
          <a:prstGeom prst="rect">
            <a:avLst/>
          </a:prstGeom>
          <a:solidFill>
            <a:srgbClr val="F04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0" y="1371600"/>
            <a:ext cx="1218895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EEF2FF"/>
                </a:solidFill>
                <a:latin typeface="Calibri"/>
              </a:rPr>
              <a:t>Thank You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0" y="2816352"/>
            <a:ext cx="121889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88BFF"/>
                </a:solidFill>
                <a:latin typeface="Calibri"/>
              </a:rPr>
              <a:t>Questions  &amp;  Open Discussion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3611880"/>
            <a:ext cx="4873752" cy="36576"/>
          </a:xfrm>
          <a:prstGeom prst="rect">
            <a:avLst/>
          </a:prstGeom>
          <a:solidFill>
            <a:srgbClr val="A7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0" y="3767328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A8FC2"/>
                </a:solidFill>
                <a:latin typeface="Calibri"/>
              </a:rPr>
              <a:t>OSG myG Portal   |   Q2 2026 Developer Work Summary   |   Manager Review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20" y="4663440"/>
            <a:ext cx="2743200" cy="1600200"/>
          </a:xfrm>
          <a:prstGeom prst="rect">
            <a:avLst/>
          </a:prstGeom>
          <a:solidFill>
            <a:srgbClr val="0C1528"/>
          </a:solidFill>
          <a:ln w="3810">
            <a:solidFill>
              <a:srgbClr val="1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645920" y="4663440"/>
            <a:ext cx="2743200" cy="45720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45920" y="47731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8BFF"/>
                </a:solidFill>
                <a:latin typeface="Calibri"/>
              </a:rPr>
              <a:t>APRIL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45920" y="5138928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EF2FF"/>
                </a:solidFill>
                <a:latin typeface="Calibri"/>
              </a:rPr>
              <a:t>12,776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20" y="58064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FC2"/>
                </a:solidFill>
                <a:latin typeface="Calibri"/>
              </a:rPr>
              <a:t>Lines of Code Written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63440" y="4663440"/>
            <a:ext cx="2743200" cy="1600200"/>
          </a:xfrm>
          <a:prstGeom prst="rect">
            <a:avLst/>
          </a:prstGeom>
          <a:solidFill>
            <a:srgbClr val="0C1528"/>
          </a:solidFill>
          <a:ln w="3810">
            <a:solidFill>
              <a:srgbClr val="1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663440" y="4663440"/>
            <a:ext cx="2743200" cy="45720"/>
          </a:xfrm>
          <a:prstGeom prst="rect">
            <a:avLst/>
          </a:prstGeom>
          <a:solidFill>
            <a:srgbClr val="A7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0" y="47731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76AFF"/>
                </a:solidFill>
                <a:latin typeface="Calibri"/>
              </a:rPr>
              <a:t>MAY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5138928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EF2FF"/>
                </a:solidFill>
                <a:latin typeface="Calibr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40" y="58064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FC2"/>
                </a:solidFill>
                <a:latin typeface="Calibri"/>
              </a:rPr>
              <a:t>Commits / Enhancements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80960" y="4663440"/>
            <a:ext cx="2743200" cy="1600200"/>
          </a:xfrm>
          <a:prstGeom prst="rect">
            <a:avLst/>
          </a:prstGeom>
          <a:solidFill>
            <a:srgbClr val="0C1528"/>
          </a:solidFill>
          <a:ln w="3810">
            <a:solidFill>
              <a:srgbClr val="1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80960" y="4663440"/>
            <a:ext cx="2743200" cy="45720"/>
          </a:xfrm>
          <a:prstGeom prst="rect">
            <a:avLst/>
          </a:prstGeom>
          <a:solidFill>
            <a:srgbClr val="0D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80960" y="47731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C88A"/>
                </a:solidFill>
                <a:latin typeface="Calibri"/>
              </a:rPr>
              <a:t>JUNE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0960" y="5138928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EF2FF"/>
                </a:solidFill>
                <a:latin typeface="Calibri"/>
              </a:rPr>
              <a:t>567+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60" y="58064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FC2"/>
                </a:solidFill>
                <a:latin typeface="Calibri"/>
              </a:rPr>
              <a:t>Claims in Production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766560"/>
            <a:ext cx="12188952" cy="45720"/>
          </a:xfrm>
          <a:prstGeom prst="rect">
            <a:avLst/>
          </a:prstGeom>
          <a:solidFill>
            <a:srgbClr val="F04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A7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6858000"/>
            <a:ext cx="12188952" cy="45720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