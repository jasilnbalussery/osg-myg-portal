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457200" y="-274320"/>
            <a:ext cx="6400800" cy="7772400"/>
          </a:xfrm>
          <a:prstGeom prst="rect">
            <a:avLst/>
          </a:prstGeom>
          <a:solidFill>
            <a:srgbClr val="0B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852160" cy="5029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585216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28016"/>
            <a:ext cx="5852160" cy="5029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18288" cy="6858000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0"/>
            <a:ext cx="18288" cy="6858000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0"/>
            <a:ext cx="18288" cy="6858000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0"/>
            <a:ext cx="18288" cy="6858000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0" y="0"/>
            <a:ext cx="18288" cy="6858000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5400" y="0"/>
            <a:ext cx="18288" cy="6858000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18320" y="0"/>
            <a:ext cx="18288" cy="6858000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921240" y="0"/>
            <a:ext cx="18288" cy="6858000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424160" y="0"/>
            <a:ext cx="18288" cy="6858000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27080" y="0"/>
            <a:ext cx="18288" cy="6858000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0" y="0"/>
            <a:ext cx="18288" cy="6858000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932920" y="0"/>
            <a:ext cx="18288" cy="6858000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0" y="1828800"/>
            <a:ext cx="4160520" cy="3200400"/>
          </a:xfrm>
          <a:prstGeom prst="ellipse">
            <a:avLst/>
          </a:prstGeom>
          <a:solidFill>
            <a:srgbClr val="009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0" y="2286000"/>
            <a:ext cx="2971800" cy="2286000"/>
          </a:xfrm>
          <a:prstGeom prst="ellipse">
            <a:avLst/>
          </a:prstGeom>
          <a:solidFill>
            <a:srgbClr val="009F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0" y="2743200"/>
            <a:ext cx="1783080" cy="1371600"/>
          </a:xfrm>
          <a:prstGeom prst="ellipse">
            <a:avLst/>
          </a:prstGeom>
          <a:solidFill>
            <a:srgbClr val="009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7772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FFF"/>
                </a:solidFill>
                <a:latin typeface="Calibri"/>
              </a:rPr>
              <a:t>Q2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132588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8FAFF"/>
                </a:solidFill>
                <a:latin typeface="Calibri"/>
              </a:rPr>
              <a:t>OSG myG
Portal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4290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B5CF6"/>
                </a:solidFill>
                <a:latin typeface="Calibri"/>
              </a:rPr>
              <a:t>Work Summary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160520"/>
            <a:ext cx="2286000" cy="36576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3159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April  ·  May  ·  June 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7365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Prepared for Manager 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1097280"/>
            <a:ext cx="4846320" cy="114300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0" y="1097280"/>
            <a:ext cx="54864" cy="114300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50608" y="11887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FFF"/>
                </a:solidFill>
                <a:latin typeface="Calibri"/>
              </a:rPr>
              <a:t>PERIOD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0608" y="15087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AFF"/>
                </a:solidFill>
                <a:latin typeface="Calibri"/>
              </a:rPr>
              <a:t>Q2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2423160"/>
            <a:ext cx="4846320" cy="114300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49440" y="2423160"/>
            <a:ext cx="54864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50608" y="25146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0608" y="28346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AFF"/>
                </a:solidFill>
                <a:latin typeface="Calibri"/>
              </a:rPr>
              <a:t>OSG Service Portal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3749039"/>
            <a:ext cx="4846320" cy="114300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49440" y="3749039"/>
            <a:ext cx="54864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50608" y="3840479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SCOPE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41605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AFF"/>
                </a:solidFill>
                <a:latin typeface="Calibri"/>
              </a:rPr>
              <a:t>Full Stack Dev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5074920"/>
            <a:ext cx="4846320" cy="114300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949440" y="5074920"/>
            <a:ext cx="54864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50608" y="5166359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CLAIMS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50608" y="548640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AFF"/>
                </a:solidFill>
                <a:latin typeface="Calibri"/>
              </a:rPr>
              <a:t>567+ Managed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4848"/>
            <a:ext cx="12188952" cy="32004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81328"/>
          </a:xfrm>
          <a:prstGeom prst="rect">
            <a:avLst/>
          </a:prstGeom>
          <a:solidFill>
            <a:srgbClr val="0F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F"/>
                </a:solidFill>
                <a:latin typeface="Calibri"/>
              </a:rPr>
              <a:t>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Project Kickoff - Full Portal Built from Scratch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320040"/>
            <a:ext cx="1371600" cy="292608"/>
          </a:xfrm>
          <a:prstGeom prst="rect">
            <a:avLst/>
          </a:prstGeom>
          <a:solidFill>
            <a:srgbClr val="00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75520" y="320040"/>
            <a:ext cx="36576" cy="292608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356615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FFF"/>
                </a:solidFill>
                <a:latin typeface="Calibri"/>
              </a:rPr>
              <a:t>INITIAL COMMIT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45920"/>
            <a:ext cx="3749039" cy="429768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645920"/>
            <a:ext cx="45720" cy="429768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7556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FFF"/>
                </a:solidFill>
                <a:latin typeface="Calibri"/>
              </a:rPr>
              <a:t>Portal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148840"/>
            <a:ext cx="34747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Flask application — routes, sessions, RBAC login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Admin dashboard with claim list, search &amp; filters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Multi-product claim submission form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Claim ID auto-generation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645920"/>
            <a:ext cx="3749039" cy="429768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1645920"/>
            <a:ext cx="45720" cy="4297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1" y="17556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Database &amp; Migration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2148840"/>
            <a:ext cx="34747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Designed PostgreSQL schema from scratch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Replaced Google Sheets as primary data store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Migrated 500+ historical claims to new DB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ClaimWrapper — bridges Sheet headers to DB cols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645920"/>
            <a:ext cx="3749039" cy="429768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645920"/>
            <a:ext cx="45720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1" y="17556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Integrations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1" y="2148840"/>
            <a:ext cx="34747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Google Sheets bidirectional sync (import/export)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Gmail SMTP — automated email on every claim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Render cloud deployment with env config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Secure file upload for claim attachments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035040"/>
            <a:ext cx="12188952" cy="32004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080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9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Initial Commit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6080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9FFF"/>
                </a:solidFill>
                <a:latin typeface="Calibri"/>
              </a:rPr>
              <a:t>500+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Claims Migrated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6080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9FFF"/>
                </a:solidFill>
                <a:latin typeface="Calibri"/>
              </a:rPr>
              <a:t>10+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Routes Built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59" y="6080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9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59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Integrations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6080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9FFF"/>
                </a:solidFill>
                <a:latin typeface="Calibri"/>
              </a:rPr>
              <a:t>Apr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Go 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81328"/>
          </a:xfrm>
          <a:prstGeom prst="rect">
            <a:avLst/>
          </a:prstGeom>
          <a:solidFill>
            <a:srgbClr val="0F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F"/>
                </a:solidFill>
                <a:latin typeface="Calibri"/>
              </a:rPr>
              <a:t>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Feature Additions, Data Updates &amp; UI Enhancements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320040"/>
            <a:ext cx="1371600" cy="292608"/>
          </a:xfrm>
          <a:prstGeom prst="rect">
            <a:avLst/>
          </a:prstGeom>
          <a:solidFill>
            <a:srgbClr val="170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75520" y="320040"/>
            <a:ext cx="36576" cy="2926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356615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6 COMMITS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27632"/>
            <a:ext cx="5029200" cy="434340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627632"/>
            <a:ext cx="45720" cy="4343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7373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Features &amp; Fixes Delivered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130552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Added Cancelled status — Edit modal dropdown + KPI card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Cancelled filter support in Analytics dashboard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Fixed dashboard aging buckets &amp; merge cell layout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Dashboard UI aligned to match original design specs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Updated OSID / Onsitego data to Feb 2026 dataset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Updated Excel files: Future Store, RBM/BDM, Branch list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Updated myG All Store data for accurate store mapping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2743200" cy="1417320"/>
          </a:xfrm>
          <a:prstGeom prst="rect">
            <a:avLst/>
          </a:prstGeom>
          <a:solidFill>
            <a:srgbClr val="121F3A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23560" y="2953512"/>
            <a:ext cx="274320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1764792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8B5CF6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52374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Commits in May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1627632"/>
            <a:ext cx="2743200" cy="1417320"/>
          </a:xfrm>
          <a:prstGeom prst="rect">
            <a:avLst/>
          </a:prstGeom>
          <a:solidFill>
            <a:srgbClr val="121F3A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49640" y="2953512"/>
            <a:ext cx="274320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1764792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9E0B"/>
                </a:solidFill>
                <a:latin typeface="Calibri"/>
              </a:rPr>
              <a:t>3+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52374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Data Files Updated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3560" y="3200400"/>
            <a:ext cx="6263640" cy="2770632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23560" y="3200400"/>
            <a:ext cx="45720" cy="277063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88152" y="3310128"/>
            <a:ext cx="5989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Calibri"/>
              </a:rPr>
              <a:t>Key Highlights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88152" y="3703320"/>
            <a:ext cx="598932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Cancelled status added to full portal workflow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Analytics KPI card shows Cancelled count live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Store &amp; RBM data refreshed with latest Feb 2026 info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Dashboard display bugs fixed to exact design specs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035040"/>
            <a:ext cx="12188952" cy="320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080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5CF6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Total Commits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6080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5CF6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New Status Added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6080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5CF6"/>
                </a:solidFill>
                <a:latin typeface="Calibri"/>
              </a:rPr>
              <a:t>3+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Excel Files Updated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59" y="6080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5CF6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59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Dashboard Fix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6080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5CF6"/>
                </a:solidFill>
                <a:latin typeface="Calibri"/>
              </a:rPr>
              <a:t>May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Period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81328"/>
          </a:xfrm>
          <a:prstGeom prst="rect">
            <a:avLst/>
          </a:prstGeom>
          <a:solidFill>
            <a:srgbClr val="0F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F"/>
                </a:solidFill>
                <a:latin typeface="Calibri"/>
              </a:rPr>
              <a:t>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System Testing, Stability &amp; Portal Handover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320040"/>
            <a:ext cx="1371600" cy="292608"/>
          </a:xfrm>
          <a:prstGeom prst="rect">
            <a:avLst/>
          </a:prstGeom>
          <a:solidFill>
            <a:srgbClr val="02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75520" y="320040"/>
            <a:ext cx="36576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356615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STABILISATION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27632"/>
            <a:ext cx="5669280" cy="434340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627632"/>
            <a:ext cx="45720" cy="434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7373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Operational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130552"/>
            <a:ext cx="5394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Comprehensive end-to-end portal testing across all modules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Onboarding store staff to use the new portal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Running Google Sheets sync — validating data consistency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Monitoring claim submission flow on production server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Collecting feedback from staff for UI improvements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Tracking replacement workflow for live claims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Verifying email notification delivery on claim submission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Coordinating with OSG team for data 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627632"/>
            <a:ext cx="5715000" cy="205740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627632"/>
            <a:ext cx="45720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737360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Data Verified in June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130552"/>
            <a:ext cx="5440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Replacement workflow data cross-checked with Sheets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Customer confirmation &amp; OSG approval statuses validated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Invoice generation &amp; settlement tracking monitored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822191"/>
            <a:ext cx="5715000" cy="214884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822191"/>
            <a:ext cx="45720" cy="21488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931920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Calibri"/>
              </a:rPr>
              <a:t>Infrastructure Running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325112"/>
            <a:ext cx="5440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Render cloud server — 100% uptime maintained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PostgreSQL DB live with real claim data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Google Sheets sync running on schedule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  WhatsApp &amp; email notifications functional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035040"/>
            <a:ext cx="12188952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080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Uptime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6080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567+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Claims Tracked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6080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Workflow 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59" y="6080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59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Downtime Events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6080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Jun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Period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81328"/>
          </a:xfrm>
          <a:prstGeom prst="rect">
            <a:avLst/>
          </a:prstGeom>
          <a:solidFill>
            <a:srgbClr val="0F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F"/>
                </a:solidFill>
                <a:latin typeface="Calibri"/>
              </a:rPr>
              <a:t>Key Challenges Faced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Problems encountered during Q2 2026 and how they were resolved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64208"/>
            <a:ext cx="5742432" cy="224028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64208"/>
            <a:ext cx="5742432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7922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Calibri"/>
              </a:rPr>
              <a:t>Google Sheets Sync Overwriting Portal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19456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Problem: Portal-set statuses (e.g. Replacement Approved) were being reverted to Registered every time Google Sheets synced.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2926080"/>
            <a:ext cx="5394960" cy="182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017520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F"/>
                </a:solidFill>
                <a:latin typeface="Calibri"/>
              </a:rPr>
              <a:t>Solution: Extended protection logic to preserve all 8 terminal statuses from sheet downgrades.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664208"/>
            <a:ext cx="5742432" cy="224028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664208"/>
            <a:ext cx="574243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1" y="17922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Legacy Column Name Mismatch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1" y="219456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Problem: Old sheet used different column names than the new DB schema, causing data to be read from wrong columns silently.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1" y="2926080"/>
            <a:ext cx="5394960" cy="182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1" y="3017520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F"/>
                </a:solidFill>
                <a:latin typeface="Calibri"/>
              </a:rPr>
              <a:t>Solution: Dual-write on every update + one-time backfill of 69 records to sync both column name versions.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041648"/>
            <a:ext cx="5742432" cy="224028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041648"/>
            <a:ext cx="5742432" cy="4572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4169663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FFF"/>
                </a:solidFill>
                <a:latin typeface="Calibri"/>
              </a:rPr>
              <a:t>Data Migration Complexity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457200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Problem: 500+ historical claims from multiple Google Sheets had inconsistent formats, missing fields, and duplicate entries.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" y="5303520"/>
            <a:ext cx="5394960" cy="182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5394960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F"/>
                </a:solidFill>
                <a:latin typeface="Calibri"/>
              </a:rPr>
              <a:t>Solution: Built ClaimWrapper adapter class + column mapping layer to normalise all legacy data into the new DB schema.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4041648"/>
            <a:ext cx="5742432" cy="224028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59" y="4041648"/>
            <a:ext cx="574243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1" y="4169663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Real-Time Sync Reliability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1" y="457200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Problem: Background thread DB saves were swallowing errors silently — email sent to user but data never saved to DB.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1" y="5303520"/>
            <a:ext cx="5394960" cy="182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1" y="5394960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F"/>
                </a:solidFill>
                <a:latin typeface="Calibri"/>
              </a:rPr>
              <a:t>Solution: Changed to synchronous saves + added local CSV backup written first before any DB or sheet operation.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4848"/>
            <a:ext cx="12188952" cy="3200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188952" cy="5029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46304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8FA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9260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9FFF"/>
                </a:solidFill>
                <a:latin typeface="Calibri"/>
              </a:rPr>
              <a:t>Questions  &amp; 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749039"/>
            <a:ext cx="395935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3977639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A3B8"/>
                </a:solidFill>
                <a:latin typeface="Calibri"/>
              </a:rPr>
              <a:t>OSG myG Portal   |   Q2 2026 Work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4754880"/>
            <a:ext cx="2240280" cy="146304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0" y="4754880"/>
            <a:ext cx="2240280" cy="4572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864608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9FFF"/>
                </a:solidFill>
                <a:latin typeface="Calibri"/>
              </a:rPr>
              <a:t>April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5458968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Portal Built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4754880"/>
            <a:ext cx="2240280" cy="146304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4754880"/>
            <a:ext cx="2240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4864608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5CF6"/>
                </a:solidFill>
                <a:latin typeface="Calibri"/>
              </a:rPr>
              <a:t>May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5458968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Enhanced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59" y="4754880"/>
            <a:ext cx="2240280" cy="146304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59" y="4754880"/>
            <a:ext cx="2240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59" y="4864608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June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5458968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Stabilised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66560"/>
            <a:ext cx="12188952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858000"/>
            <a:ext cx="12188952" cy="4572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